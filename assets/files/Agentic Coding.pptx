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aleway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  <p:embeddedFont>
      <p:font typeface="Raleway Medium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aleway-regular.fntdata"/><Relationship Id="rId41" Type="http://schemas.openxmlformats.org/officeDocument/2006/relationships/slide" Target="slides/slide36.xml"/><Relationship Id="rId44" Type="http://schemas.openxmlformats.org/officeDocument/2006/relationships/font" Target="fonts/Raleway-italic.fntdata"/><Relationship Id="rId43" Type="http://schemas.openxmlformats.org/officeDocument/2006/relationships/font" Target="fonts/Raleway-bold.fntdata"/><Relationship Id="rId46" Type="http://schemas.openxmlformats.org/officeDocument/2006/relationships/font" Target="fonts/Lato-regular.fntdata"/><Relationship Id="rId45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alewayMedium-bold.fntdata"/><Relationship Id="rId50" Type="http://schemas.openxmlformats.org/officeDocument/2006/relationships/font" Target="fonts/RalewayMedium-regular.fntdata"/><Relationship Id="rId53" Type="http://schemas.openxmlformats.org/officeDocument/2006/relationships/font" Target="fonts/RalewayMedium-boldItalic.fntdata"/><Relationship Id="rId52" Type="http://schemas.openxmlformats.org/officeDocument/2006/relationships/font" Target="fonts/Raleway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f6af9d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f6af9d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51622d55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51622d55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96d4bb1d5_72_1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96d4bb1d5_72_1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d9c67055b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d9c67055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96d4bb1d5_72_1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96d4bb1d5_72_1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96d4bb1d5_72_2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96d4bb1d5_72_2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51d9112a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51d9112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96d4bb1d5_0_1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96d4bb1d5_0_1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96d4bb1d5_0_1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d96d4bb1d5_0_1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96d4bb1d5_0_1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d96d4bb1d5_0_1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96d4bb1d5_72_1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96d4bb1d5_72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96d4bb1d5_72_4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96d4bb1d5_72_4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96d4bb1d5_72_1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96d4bb1d5_72_1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96d4bb1d5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d96d4bb1d5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96d4bb1d5_7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96d4bb1d5_7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9a3f2557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d9a3f2557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96d4bb1d5_72_2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d96d4bb1d5_72_2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96d4bb1d5_0_1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d96d4bb1d5_0_1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96d4bb1d5_72_1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d96d4bb1d5_72_1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d96d4bb1d5_72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d96d4bb1d5_72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96d4bb1d5_72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d96d4bb1d5_72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96d4bb1d5_72_1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d96d4bb1d5_72_1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96d4bb1d5_72_1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96d4bb1d5_72_1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96d4bb1d5_72_1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d96d4bb1d5_72_1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96d4bb1d5_72_2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d96d4bb1d5_72_2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d994d148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d994d148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d96d4bb1d5_72_2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d96d4bb1d5_72_2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d96d4bb1d5_72_3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d96d4bb1d5_72_3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d96d4bb1d5_72_4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d96d4bb1d5_72_4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d96d4bb1d5_72_4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d96d4bb1d5_72_4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d96d4bb1d5_72_4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d96d4bb1d5_72_4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d96d4bb1d5_72_4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d96d4bb1d5_72_4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d96d4bb1d5_72_4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d96d4bb1d5_72_4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d96d4bb1d5_72_4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d96d4bb1d5_72_4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d96d4bb1d5_72_3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d96d4bb1d5_72_3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d9a3f2557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d9a3f2557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0" y="1"/>
            <a:ext cx="9144000" cy="4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5063224" y="1313339"/>
            <a:ext cx="3459829" cy="2670551"/>
            <a:chOff x="3553042" y="1657806"/>
            <a:chExt cx="3461100" cy="2671532"/>
          </a:xfrm>
        </p:grpSpPr>
        <p:sp>
          <p:nvSpPr>
            <p:cNvPr id="26" name="Google Shape;26;p3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Component Detail" id="34" name="Google Shape;34;p3"/>
          <p:cNvPicPr preferRelativeResize="0"/>
          <p:nvPr/>
        </p:nvPicPr>
        <p:blipFill rotWithShape="1">
          <a:blip r:embed="rId2">
            <a:alphaModFix/>
          </a:blip>
          <a:srcRect b="25077" l="0" r="0" t="0"/>
          <a:stretch/>
        </p:blipFill>
        <p:spPr>
          <a:xfrm>
            <a:off x="5161725" y="1399791"/>
            <a:ext cx="3262825" cy="18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 flipH="1">
            <a:off x="5156196" y="1401826"/>
            <a:ext cx="3268577" cy="1812993"/>
          </a:xfrm>
          <a:prstGeom prst="rtTriangle">
            <a:avLst/>
          </a:prstGeom>
          <a:solidFill>
            <a:srgbClr val="000000">
              <a:alpha val="3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7666681" y="2077877"/>
            <a:ext cx="1148179" cy="2282764"/>
            <a:chOff x="7666681" y="2077877"/>
            <a:chExt cx="1148179" cy="2282764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7666681" y="2077877"/>
              <a:ext cx="1148179" cy="2282764"/>
              <a:chOff x="3983627" y="1676395"/>
              <a:chExt cx="1449538" cy="2881914"/>
            </a:xfrm>
          </p:grpSpPr>
          <p:sp>
            <p:nvSpPr>
              <p:cNvPr id="38" name="Google Shape;38;p3"/>
              <p:cNvSpPr/>
              <p:nvPr/>
            </p:nvSpPr>
            <p:spPr>
              <a:xfrm rot="-5400000">
                <a:off x="3276827" y="2404608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-5400000">
                <a:off x="3279465" y="2383195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473243" y="4318802"/>
                <a:ext cx="472800" cy="76800"/>
              </a:xfrm>
              <a:prstGeom prst="roundRect">
                <a:avLst>
                  <a:gd fmla="val 50000" name="adj"/>
                </a:avLst>
              </a:prstGeom>
              <a:solidFill>
                <a:srgbClr val="4B4B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Mobile View" id="41" name="Google Shape;41;p3"/>
            <p:cNvPicPr preferRelativeResize="0"/>
            <p:nvPr/>
          </p:nvPicPr>
          <p:blipFill rotWithShape="1">
            <a:blip r:embed="rId3">
              <a:alphaModFix/>
            </a:blip>
            <a:srcRect b="4372" l="0" r="0" t="4363"/>
            <a:stretch/>
          </p:blipFill>
          <p:spPr>
            <a:xfrm>
              <a:off x="7720839" y="2222723"/>
              <a:ext cx="1037555" cy="1833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"/>
            <p:cNvSpPr/>
            <p:nvPr/>
          </p:nvSpPr>
          <p:spPr>
            <a:xfrm flipH="1">
              <a:off x="7722342" y="2222973"/>
              <a:ext cx="1037700" cy="1833000"/>
            </a:xfrm>
            <a:prstGeom prst="rtTriangle">
              <a:avLst/>
            </a:prstGeom>
            <a:solidFill>
              <a:srgbClr val="000000">
                <a:alpha val="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6" name="Google Shape;86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3" name="Google Shape;9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de view of hands writing in a notebook at a cafe" id="100" name="Google Shape;100;p12"/>
          <p:cNvPicPr preferRelativeResize="0"/>
          <p:nvPr/>
        </p:nvPicPr>
        <p:blipFill rotWithShape="1">
          <a:blip r:embed="rId2">
            <a:alphaModFix/>
          </a:blip>
          <a:srcRect b="26447" l="9051" r="54351" t="12064"/>
          <a:stretch/>
        </p:blipFill>
        <p:spPr>
          <a:xfrm>
            <a:off x="1" y="-50"/>
            <a:ext cx="4572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1650" y="0"/>
            <a:ext cx="45687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536300" y="47498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2">
  <p:cSld name="SECTION_TITLE_AND_DESCRIPTION_1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0" l="31883" r="25713" t="8097"/>
          <a:stretch/>
        </p:blipFill>
        <p:spPr>
          <a:xfrm>
            <a:off x="0" y="0"/>
            <a:ext cx="4575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-75" y="0"/>
            <a:ext cx="45720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3" name="Google Shape;113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4" name="Google Shape;12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g3d96d4bb1d5_8_0)">
  <p:cSld name="Title slide (g3d96d4bb1d5_8_0)">
    <p:bg>
      <p:bgPr>
        <a:solidFill>
          <a:schemeClr val="lt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" name="Google Shape;133;p17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g3d96d4bb1d5_15_0)">
  <p:cSld name="Section header (g3d96d4bb1d5_15_0)"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g3d96d4bb1d5_22_0)">
  <p:cSld name="Section header (g3d96d4bb1d5_22_0)"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 title and description 1 (g3d96d4bb1d5_51_0)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5" name="Google Shape;145;p20"/>
          <p:cNvSpPr txBox="1"/>
          <p:nvPr>
            <p:ph idx="12" type="sldNum"/>
          </p:nvPr>
        </p:nvSpPr>
        <p:spPr>
          <a:xfrm>
            <a:off x="8536300" y="47498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5" Type="http://schemas.openxmlformats.org/officeDocument/2006/relationships/image" Target="../media/image6.jpg"/><Relationship Id="rId6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6.jpg"/><Relationship Id="rId5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6.jp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6.jpg"/><Relationship Id="rId5" Type="http://schemas.openxmlformats.org/officeDocument/2006/relationships/image" Target="../media/image1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22.jpg"/><Relationship Id="rId5" Type="http://schemas.openxmlformats.org/officeDocument/2006/relationships/image" Target="../media/image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6.jpg"/><Relationship Id="rId5" Type="http://schemas.openxmlformats.org/officeDocument/2006/relationships/hyperlink" Target="https://code.visualstudio.com/download" TargetMode="External"/><Relationship Id="rId6" Type="http://schemas.openxmlformats.org/officeDocument/2006/relationships/hyperlink" Target="https://www.youtube.com/watch?v=ws6t0NBle9g" TargetMode="External"/><Relationship Id="rId7" Type="http://schemas.openxmlformats.org/officeDocument/2006/relationships/hyperlink" Target="https://www.youtube.com/watch?v=X_Aet9ndh_Y" TargetMode="External"/><Relationship Id="rId8" Type="http://schemas.openxmlformats.org/officeDocument/2006/relationships/hyperlink" Target="https://antigravity.google/download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BDxRhhs36ns" TargetMode="External"/><Relationship Id="rId5" Type="http://schemas.openxmlformats.org/officeDocument/2006/relationships/hyperlink" Target="https://www.youtube.com/watch?v=3mCaZ_tYdI0" TargetMode="External"/><Relationship Id="rId6" Type="http://schemas.openxmlformats.org/officeDocument/2006/relationships/image" Target="../media/image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5" Type="http://schemas.openxmlformats.org/officeDocument/2006/relationships/image" Target="../media/image6.jpg"/><Relationship Id="rId6" Type="http://schemas.openxmlformats.org/officeDocument/2006/relationships/image" Target="../media/image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jpg"/><Relationship Id="rId4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jpg"/><Relationship Id="rId4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jpg"/><Relationship Id="rId4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high-tech, cinematic close-up of holographic code floating in a dark server room with blue and orange ambient lighting, representing advanced AI agentic coding." id="150" name="Google Shape;150;p21"/>
          <p:cNvPicPr preferRelativeResize="0"/>
          <p:nvPr/>
        </p:nvPicPr>
        <p:blipFill rotWithShape="1">
          <a:blip r:embed="rId3">
            <a:alphaModFix/>
          </a:blip>
          <a:srcRect b="0" l="5556" r="5556" t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21"/>
          <p:cNvGrpSpPr/>
          <p:nvPr/>
        </p:nvGrpSpPr>
        <p:grpSpPr>
          <a:xfrm>
            <a:off x="571500" y="952500"/>
            <a:ext cx="1143000" cy="38100"/>
            <a:chOff x="571500" y="952500"/>
            <a:chExt cx="1143000" cy="38100"/>
          </a:xfrm>
        </p:grpSpPr>
        <p:sp>
          <p:nvSpPr>
            <p:cNvPr id="153" name="Google Shape;153;p21"/>
            <p:cNvSpPr/>
            <p:nvPr/>
          </p:nvSpPr>
          <p:spPr>
            <a:xfrm>
              <a:off x="571500" y="952500"/>
              <a:ext cx="762000" cy="381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1333500" y="952500"/>
              <a:ext cx="381000" cy="381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21"/>
          <p:cNvSpPr txBox="1"/>
          <p:nvPr>
            <p:ph type="ctrTitle"/>
          </p:nvPr>
        </p:nvSpPr>
        <p:spPr>
          <a:xfrm>
            <a:off x="452800" y="990600"/>
            <a:ext cx="4000500" cy="163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1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Beyond the Syntax: Mastering Agentic Coding</a:t>
            </a:r>
            <a:endParaRPr b="1" sz="341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" name="Google Shape;156;p21"/>
          <p:cNvSpPr txBox="1"/>
          <p:nvPr>
            <p:ph idx="1" type="subTitle"/>
          </p:nvPr>
        </p:nvSpPr>
        <p:spPr>
          <a:xfrm>
            <a:off x="452800" y="2739525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A9988"/>
                </a:solidFill>
                <a:latin typeface="Lato"/>
                <a:ea typeface="Lato"/>
                <a:cs typeface="Lato"/>
                <a:sym typeface="Lato"/>
              </a:rPr>
              <a:t>The Future of Software Engineering</a:t>
            </a:r>
            <a:endParaRPr b="1" sz="1600">
              <a:solidFill>
                <a:srgbClr val="1A998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21"/>
          <p:cNvSpPr txBox="1"/>
          <p:nvPr>
            <p:ph idx="1" type="subTitle"/>
          </p:nvPr>
        </p:nvSpPr>
        <p:spPr>
          <a:xfrm>
            <a:off x="424673" y="3155548"/>
            <a:ext cx="5051100" cy="190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3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Awwal Badru</a:t>
            </a:r>
            <a:endParaRPr b="1" sz="183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n" sz="115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rPr>
              <a:t>PhD Candidate &amp; MS, CS (United States) | M.Sc CS (Australia) </a:t>
            </a:r>
            <a:endParaRPr b="0" i="1" sz="1150">
              <a:solidFill>
                <a:srgbClr val="CCCCC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1" lang="en" sz="115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rPr>
              <a:t>| B.Ed  CS/Maths (Nigeria)</a:t>
            </a:r>
            <a:endParaRPr b="0" i="1" sz="1150">
              <a:solidFill>
                <a:srgbClr val="CCCCC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35">
                <a:solidFill>
                  <a:srgbClr val="1A9988"/>
                </a:solidFill>
                <a:latin typeface="Lato"/>
                <a:ea typeface="Lato"/>
                <a:cs typeface="Lato"/>
                <a:sym typeface="Lato"/>
              </a:rPr>
              <a:t>Research Areas:</a:t>
            </a:r>
            <a:endParaRPr b="1" sz="1235">
              <a:solidFill>
                <a:srgbClr val="1A9988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0" marL="45720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Lato"/>
              <a:buNone/>
            </a:pPr>
            <a:r>
              <a:rPr b="0" lang="en" sz="11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Empirical Software Engineering</a:t>
            </a:r>
            <a:endParaRPr b="0" sz="11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0" marL="4572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Lato"/>
              <a:buNone/>
            </a:pPr>
            <a:r>
              <a:rPr b="0" lang="en" sz="11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Software </a:t>
            </a:r>
            <a:r>
              <a:rPr lang="en" sz="1150">
                <a:solidFill>
                  <a:schemeClr val="lt1"/>
                </a:solidFill>
              </a:rPr>
              <a:t>Security </a:t>
            </a:r>
            <a:endParaRPr b="0" sz="11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0" marL="4572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Lato"/>
              <a:buNone/>
            </a:pPr>
            <a:r>
              <a:rPr b="0" lang="en" sz="11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Software Engineering Education</a:t>
            </a:r>
            <a:endParaRPr b="0" sz="11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0" marL="4572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Lato"/>
              <a:buNone/>
            </a:pPr>
            <a:r>
              <a:rPr b="0" lang="en" sz="11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Computer Science Education</a:t>
            </a:r>
            <a:endParaRPr b="0" sz="11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5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 rotWithShape="1">
          <a:blip r:embed="rId6">
            <a:alphaModFix/>
          </a:blip>
          <a:srcRect b="30" l="0" r="0" t="40"/>
          <a:stretch/>
        </p:blipFill>
        <p:spPr>
          <a:xfrm>
            <a:off x="7065425" y="4052450"/>
            <a:ext cx="2078577" cy="1091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2"/>
          <p:cNvGrpSpPr/>
          <p:nvPr/>
        </p:nvGrpSpPr>
        <p:grpSpPr>
          <a:xfrm>
            <a:off x="571500" y="476250"/>
            <a:ext cx="8001000" cy="762000"/>
            <a:chOff x="571500" y="476250"/>
            <a:chExt cx="8001000" cy="762000"/>
          </a:xfrm>
        </p:grpSpPr>
        <p:sp>
          <p:nvSpPr>
            <p:cNvPr id="165" name="Google Shape;165;p22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2"/>
            <p:cNvSpPr txBox="1"/>
            <p:nvPr/>
          </p:nvSpPr>
          <p:spPr>
            <a:xfrm>
              <a:off x="571500" y="66675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Workshop Outline</a:t>
              </a:r>
              <a:endPara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67" name="Google Shape;167;p22"/>
          <p:cNvGrpSpPr/>
          <p:nvPr/>
        </p:nvGrpSpPr>
        <p:grpSpPr>
          <a:xfrm>
            <a:off x="571500" y="1428750"/>
            <a:ext cx="3905400" cy="3238500"/>
            <a:chOff x="571500" y="1428750"/>
            <a:chExt cx="3905400" cy="3238500"/>
          </a:xfrm>
        </p:grpSpPr>
        <p:sp>
          <p:nvSpPr>
            <p:cNvPr id="168" name="Google Shape;168;p22"/>
            <p:cNvSpPr/>
            <p:nvPr/>
          </p:nvSpPr>
          <p:spPr>
            <a:xfrm>
              <a:off x="571500" y="142875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2"/>
            <p:cNvSpPr txBox="1"/>
            <p:nvPr/>
          </p:nvSpPr>
          <p:spPr>
            <a:xfrm>
              <a:off x="762000" y="1619250"/>
              <a:ext cx="3524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DAY 1: Foundations &amp; Demo</a:t>
              </a:r>
              <a:endParaRPr b="1" sz="2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The Evolution of AI &amp; Coding</a:t>
              </a:r>
              <a:endParaRPr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Coding Agents &amp; Agentic Loop</a:t>
              </a:r>
              <a:endParaRPr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Demo: Context, Action &amp; Verification</a:t>
              </a:r>
              <a:endParaRPr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IDE Setup and Resources</a:t>
              </a:r>
              <a:endParaRPr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Interactive Q &amp; A</a:t>
              </a:r>
              <a:endParaRPr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170" name="Google Shape;170;p22"/>
          <p:cNvPicPr preferRelativeResize="0"/>
          <p:nvPr/>
        </p:nvPicPr>
        <p:blipFill rotWithShape="1">
          <a:blip r:embed="rId3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23"/>
          <p:cNvGrpSpPr/>
          <p:nvPr/>
        </p:nvGrpSpPr>
        <p:grpSpPr>
          <a:xfrm>
            <a:off x="571500" y="476250"/>
            <a:ext cx="8001000" cy="762000"/>
            <a:chOff x="571500" y="476250"/>
            <a:chExt cx="8001000" cy="762000"/>
          </a:xfrm>
        </p:grpSpPr>
        <p:sp>
          <p:nvSpPr>
            <p:cNvPr id="176" name="Google Shape;176;p23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3"/>
            <p:cNvSpPr txBox="1"/>
            <p:nvPr/>
          </p:nvSpPr>
          <p:spPr>
            <a:xfrm>
              <a:off x="571500" y="66675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Workshop Outline</a:t>
              </a:r>
              <a:endPara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78" name="Google Shape;178;p23"/>
          <p:cNvGrpSpPr/>
          <p:nvPr/>
        </p:nvGrpSpPr>
        <p:grpSpPr>
          <a:xfrm>
            <a:off x="571500" y="1428750"/>
            <a:ext cx="3905400" cy="3238500"/>
            <a:chOff x="571500" y="1428750"/>
            <a:chExt cx="3905400" cy="3238500"/>
          </a:xfrm>
        </p:grpSpPr>
        <p:sp>
          <p:nvSpPr>
            <p:cNvPr id="179" name="Google Shape;179;p23"/>
            <p:cNvSpPr/>
            <p:nvPr/>
          </p:nvSpPr>
          <p:spPr>
            <a:xfrm>
              <a:off x="571500" y="142875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3"/>
            <p:cNvSpPr txBox="1"/>
            <p:nvPr/>
          </p:nvSpPr>
          <p:spPr>
            <a:xfrm>
              <a:off x="762000" y="1619250"/>
              <a:ext cx="3524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DAY 1: Foundations &amp; Demo</a:t>
              </a:r>
              <a:endParaRPr b="1" sz="2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rPr>
                <a:t>•The Evolution of AI &amp; Coding</a:t>
              </a:r>
              <a:endParaRPr sz="1400">
                <a:solidFill>
                  <a:srgbClr val="E6B8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rPr>
                <a:t>•Coding Agents &amp; Agentic Loop</a:t>
              </a:r>
              <a:endParaRPr sz="1400">
                <a:solidFill>
                  <a:srgbClr val="E6B8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rPr>
                <a:t>•Demo: Context, Action &amp; Verification</a:t>
              </a:r>
              <a:endParaRPr sz="1400">
                <a:solidFill>
                  <a:srgbClr val="E6B8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rPr>
                <a:t>•IDE Setup and Resources</a:t>
              </a:r>
              <a:endParaRPr sz="1400">
                <a:solidFill>
                  <a:srgbClr val="E6B8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rPr>
                <a:t>•Interactive Q &amp; A</a:t>
              </a:r>
              <a:endParaRPr sz="1400">
                <a:solidFill>
                  <a:srgbClr val="E6B8A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1" name="Google Shape;181;p23"/>
          <p:cNvGrpSpPr/>
          <p:nvPr/>
        </p:nvGrpSpPr>
        <p:grpSpPr>
          <a:xfrm>
            <a:off x="4667250" y="1428750"/>
            <a:ext cx="3905400" cy="3238500"/>
            <a:chOff x="4667250" y="1428750"/>
            <a:chExt cx="3905400" cy="3238500"/>
          </a:xfrm>
        </p:grpSpPr>
        <p:sp>
          <p:nvSpPr>
            <p:cNvPr id="182" name="Google Shape;182;p23"/>
            <p:cNvSpPr/>
            <p:nvPr/>
          </p:nvSpPr>
          <p:spPr>
            <a:xfrm>
              <a:off x="4667250" y="142875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3"/>
            <p:cNvSpPr txBox="1"/>
            <p:nvPr/>
          </p:nvSpPr>
          <p:spPr>
            <a:xfrm>
              <a:off x="4857750" y="1619250"/>
              <a:ext cx="3524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DAY 2: Practical Application</a:t>
              </a:r>
              <a:endParaRPr b="1" sz="2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Software Development Life Cycle</a:t>
              </a:r>
              <a:endParaRPr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Hands-on Building with Agents</a:t>
              </a:r>
              <a:endParaRPr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Git Versioning &amp; Collaboration</a:t>
              </a:r>
              <a:endParaRPr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184" name="Google Shape;184;p23"/>
          <p:cNvPicPr preferRelativeResize="0"/>
          <p:nvPr/>
        </p:nvPicPr>
        <p:blipFill rotWithShape="1">
          <a:blip r:embed="rId3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4"/>
          <p:cNvGrpSpPr/>
          <p:nvPr/>
        </p:nvGrpSpPr>
        <p:grpSpPr>
          <a:xfrm>
            <a:off x="571500" y="476250"/>
            <a:ext cx="8001000" cy="762000"/>
            <a:chOff x="571500" y="476250"/>
            <a:chExt cx="8001000" cy="762000"/>
          </a:xfrm>
        </p:grpSpPr>
        <p:sp>
          <p:nvSpPr>
            <p:cNvPr id="190" name="Google Shape;190;p24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4"/>
            <p:cNvSpPr txBox="1"/>
            <p:nvPr/>
          </p:nvSpPr>
          <p:spPr>
            <a:xfrm>
              <a:off x="571500" y="66675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The Evolution of AI &amp; Coding</a:t>
              </a:r>
              <a:endPara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92" name="Google Shape;192;p24"/>
          <p:cNvGrpSpPr/>
          <p:nvPr/>
        </p:nvGrpSpPr>
        <p:grpSpPr>
          <a:xfrm>
            <a:off x="571500" y="4762500"/>
            <a:ext cx="8001000" cy="285825"/>
            <a:chOff x="571500" y="4762500"/>
            <a:chExt cx="8001000" cy="285825"/>
          </a:xfrm>
        </p:grpSpPr>
        <p:sp>
          <p:nvSpPr>
            <p:cNvPr id="193" name="Google Shape;193;p24"/>
            <p:cNvSpPr/>
            <p:nvPr/>
          </p:nvSpPr>
          <p:spPr>
            <a:xfrm>
              <a:off x="571500" y="4762500"/>
              <a:ext cx="8001000" cy="960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4"/>
            <p:cNvSpPr txBox="1"/>
            <p:nvPr/>
          </p:nvSpPr>
          <p:spPr>
            <a:xfrm>
              <a:off x="571500" y="4810125"/>
              <a:ext cx="8001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Beyond the Syntax: Mastering Agentic Coding </a:t>
              </a:r>
              <a:r>
                <a:rPr lang="en" sz="10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led by </a:t>
              </a:r>
              <a:r>
                <a:rPr lang="en" sz="1000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rPr>
                <a:t>Awwal Badru </a:t>
              </a:r>
              <a:endParaRPr b="0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195" name="Google Shape;195;p24" title="graph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825" y="1331925"/>
            <a:ext cx="6146707" cy="343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4"/>
          <p:cNvPicPr preferRelativeResize="0"/>
          <p:nvPr/>
        </p:nvPicPr>
        <p:blipFill rotWithShape="1">
          <a:blip r:embed="rId5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5"/>
          <p:cNvGrpSpPr/>
          <p:nvPr/>
        </p:nvGrpSpPr>
        <p:grpSpPr>
          <a:xfrm>
            <a:off x="571500" y="476250"/>
            <a:ext cx="8001000" cy="762000"/>
            <a:chOff x="571500" y="476250"/>
            <a:chExt cx="8001000" cy="762000"/>
          </a:xfrm>
        </p:grpSpPr>
        <p:sp>
          <p:nvSpPr>
            <p:cNvPr id="202" name="Google Shape;202;p25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5"/>
            <p:cNvSpPr txBox="1"/>
            <p:nvPr/>
          </p:nvSpPr>
          <p:spPr>
            <a:xfrm>
              <a:off x="571500" y="66675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The Evolution of AI &amp; Coding</a:t>
              </a:r>
              <a:endPara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204" name="Google Shape;204;p25" title="graph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825" y="1331925"/>
            <a:ext cx="6146707" cy="343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5"/>
          <p:cNvPicPr preferRelativeResize="0"/>
          <p:nvPr/>
        </p:nvPicPr>
        <p:blipFill rotWithShape="1">
          <a:blip r:embed="rId5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25"/>
          <p:cNvCxnSpPr/>
          <p:nvPr/>
        </p:nvCxnSpPr>
        <p:spPr>
          <a:xfrm>
            <a:off x="2806122" y="1760800"/>
            <a:ext cx="0" cy="2837100"/>
          </a:xfrm>
          <a:prstGeom prst="straightConnector1">
            <a:avLst/>
          </a:prstGeom>
          <a:noFill/>
          <a:ln cap="flat" cmpd="sng" w="28575">
            <a:solidFill>
              <a:srgbClr val="1C458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7" name="Google Shape;207;p25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26"/>
          <p:cNvGrpSpPr/>
          <p:nvPr/>
        </p:nvGrpSpPr>
        <p:grpSpPr>
          <a:xfrm>
            <a:off x="571500" y="476250"/>
            <a:ext cx="8001000" cy="762000"/>
            <a:chOff x="571500" y="476250"/>
            <a:chExt cx="8001000" cy="762000"/>
          </a:xfrm>
        </p:grpSpPr>
        <p:sp>
          <p:nvSpPr>
            <p:cNvPr id="213" name="Google Shape;213;p26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6"/>
            <p:cNvSpPr txBox="1"/>
            <p:nvPr/>
          </p:nvSpPr>
          <p:spPr>
            <a:xfrm>
              <a:off x="571500" y="66675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The Evolution of AI &amp; Coding</a:t>
              </a:r>
              <a:endPara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215" name="Google Shape;215;p26" title="graph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825" y="1331925"/>
            <a:ext cx="6146707" cy="34305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26"/>
          <p:cNvCxnSpPr/>
          <p:nvPr/>
        </p:nvCxnSpPr>
        <p:spPr>
          <a:xfrm>
            <a:off x="4879722" y="1804800"/>
            <a:ext cx="0" cy="2837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17" name="Google Shape;217;p26"/>
          <p:cNvPicPr preferRelativeResize="0"/>
          <p:nvPr/>
        </p:nvPicPr>
        <p:blipFill rotWithShape="1">
          <a:blip r:embed="rId5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" name="Google Shape;218;p26"/>
          <p:cNvCxnSpPr/>
          <p:nvPr/>
        </p:nvCxnSpPr>
        <p:spPr>
          <a:xfrm>
            <a:off x="2806122" y="1760800"/>
            <a:ext cx="0" cy="2837100"/>
          </a:xfrm>
          <a:prstGeom prst="straightConnector1">
            <a:avLst/>
          </a:prstGeom>
          <a:noFill/>
          <a:ln cap="flat" cmpd="sng" w="28575">
            <a:solidFill>
              <a:srgbClr val="1C458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9" name="Google Shape;219;p26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27"/>
          <p:cNvGrpSpPr/>
          <p:nvPr/>
        </p:nvGrpSpPr>
        <p:grpSpPr>
          <a:xfrm>
            <a:off x="571500" y="1714500"/>
            <a:ext cx="2476500" cy="2667000"/>
            <a:chOff x="571500" y="1714500"/>
            <a:chExt cx="2476500" cy="2667000"/>
          </a:xfrm>
        </p:grpSpPr>
        <p:sp>
          <p:nvSpPr>
            <p:cNvPr id="226" name="Google Shape;226;p27"/>
            <p:cNvSpPr/>
            <p:nvPr/>
          </p:nvSpPr>
          <p:spPr>
            <a:xfrm>
              <a:off x="57150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733425" y="1876425"/>
              <a:ext cx="342900" cy="342900"/>
            </a:xfrm>
            <a:prstGeom prst="ellipse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7"/>
            <p:cNvSpPr txBox="1"/>
            <p:nvPr/>
          </p:nvSpPr>
          <p:spPr>
            <a:xfrm>
              <a:off x="733425" y="1876425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1</a:t>
              </a:r>
              <a:endParaRPr b="1"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9" name="Google Shape;229;p27"/>
            <p:cNvSpPr txBox="1"/>
            <p:nvPr/>
          </p:nvSpPr>
          <p:spPr>
            <a:xfrm>
              <a:off x="762000" y="233362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Code Completion</a:t>
              </a:r>
              <a:endParaRPr b="1" sz="16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0" name="Google Shape;230;p27"/>
            <p:cNvSpPr txBox="1"/>
            <p:nvPr/>
          </p:nvSpPr>
          <p:spPr>
            <a:xfrm>
              <a:off x="762000" y="2714625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rPr>
                <a:t>Intelligent snippets and autocomplete based on context. Tools like traditional IDE intellisense.</a:t>
              </a:r>
              <a:endParaRPr b="0" sz="120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31" name="Google Shape;231;p27"/>
          <p:cNvPicPr preferRelativeResize="0"/>
          <p:nvPr/>
        </p:nvPicPr>
        <p:blipFill rotWithShape="1">
          <a:blip r:embed="rId4">
            <a:alphaModFix/>
          </a:blip>
          <a:srcRect b="7646" l="17178" r="20741" t="44268"/>
          <a:stretch/>
        </p:blipFill>
        <p:spPr>
          <a:xfrm>
            <a:off x="3196475" y="1867175"/>
            <a:ext cx="4675545" cy="19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7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Evolution of AI &amp; Coding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5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7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4183375" y="2961600"/>
            <a:ext cx="1340700" cy="3012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8"/>
          <p:cNvPicPr preferRelativeResize="0"/>
          <p:nvPr/>
        </p:nvPicPr>
        <p:blipFill rotWithShape="1">
          <a:blip r:embed="rId4">
            <a:alphaModFix/>
          </a:blip>
          <a:srcRect b="17800" l="28016" r="27310" t="22648"/>
          <a:stretch/>
        </p:blipFill>
        <p:spPr>
          <a:xfrm>
            <a:off x="3278700" y="1648750"/>
            <a:ext cx="4470029" cy="27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8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2" name="Google Shape;242;p28"/>
          <p:cNvGrpSpPr/>
          <p:nvPr/>
        </p:nvGrpSpPr>
        <p:grpSpPr>
          <a:xfrm>
            <a:off x="571500" y="1714500"/>
            <a:ext cx="2476500" cy="2667000"/>
            <a:chOff x="571500" y="1714500"/>
            <a:chExt cx="2476500" cy="2667000"/>
          </a:xfrm>
        </p:grpSpPr>
        <p:sp>
          <p:nvSpPr>
            <p:cNvPr id="243" name="Google Shape;243;p28"/>
            <p:cNvSpPr/>
            <p:nvPr/>
          </p:nvSpPr>
          <p:spPr>
            <a:xfrm>
              <a:off x="57150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8"/>
            <p:cNvSpPr/>
            <p:nvPr/>
          </p:nvSpPr>
          <p:spPr>
            <a:xfrm>
              <a:off x="57150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8"/>
            <p:cNvSpPr txBox="1"/>
            <p:nvPr/>
          </p:nvSpPr>
          <p:spPr>
            <a:xfrm>
              <a:off x="762000" y="2714625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rPr>
                <a:t>Generative AI creating entire functions and boilerplate from natural language prompts. The era of Copilots.</a:t>
              </a:r>
              <a:endParaRPr b="0" sz="120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6" name="Google Shape;246;p28"/>
            <p:cNvSpPr txBox="1"/>
            <p:nvPr/>
          </p:nvSpPr>
          <p:spPr>
            <a:xfrm>
              <a:off x="762000" y="233362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Code Generation</a:t>
              </a:r>
              <a:endParaRPr b="1" sz="16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7" name="Google Shape;247;p28"/>
            <p:cNvSpPr/>
            <p:nvPr/>
          </p:nvSpPr>
          <p:spPr>
            <a:xfrm>
              <a:off x="733425" y="1876425"/>
              <a:ext cx="342900" cy="342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2</a:t>
              </a:r>
              <a:endParaRPr/>
            </a:p>
          </p:txBody>
        </p:sp>
      </p:grpSp>
      <p:sp>
        <p:nvSpPr>
          <p:cNvPr id="248" name="Google Shape;248;p28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Evolution of AI &amp; Coding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49" name="Google Shape;249;p28"/>
          <p:cNvPicPr preferRelativeResize="0"/>
          <p:nvPr/>
        </p:nvPicPr>
        <p:blipFill rotWithShape="1">
          <a:blip r:embed="rId5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8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3642650" y="2326450"/>
            <a:ext cx="4009200" cy="6726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" name="Google Shape;257;p29"/>
          <p:cNvGrpSpPr/>
          <p:nvPr/>
        </p:nvGrpSpPr>
        <p:grpSpPr>
          <a:xfrm>
            <a:off x="571500" y="1714500"/>
            <a:ext cx="2476500" cy="2667000"/>
            <a:chOff x="571500" y="1714500"/>
            <a:chExt cx="2476500" cy="2667000"/>
          </a:xfrm>
        </p:grpSpPr>
        <p:sp>
          <p:nvSpPr>
            <p:cNvPr id="258" name="Google Shape;258;p29"/>
            <p:cNvSpPr/>
            <p:nvPr/>
          </p:nvSpPr>
          <p:spPr>
            <a:xfrm>
              <a:off x="57150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9"/>
            <p:cNvSpPr/>
            <p:nvPr/>
          </p:nvSpPr>
          <p:spPr>
            <a:xfrm>
              <a:off x="733425" y="1876425"/>
              <a:ext cx="342900" cy="342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3</a:t>
              </a:r>
              <a:endParaRPr/>
            </a:p>
          </p:txBody>
        </p:sp>
        <p:sp>
          <p:nvSpPr>
            <p:cNvPr id="260" name="Google Shape;260;p29"/>
            <p:cNvSpPr txBox="1"/>
            <p:nvPr/>
          </p:nvSpPr>
          <p:spPr>
            <a:xfrm>
              <a:off x="762000" y="233362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Agentic Coding</a:t>
              </a:r>
              <a:endParaRPr b="1" sz="16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1" name="Google Shape;261;p29"/>
            <p:cNvSpPr txBox="1"/>
            <p:nvPr/>
          </p:nvSpPr>
          <p:spPr>
            <a:xfrm>
              <a:off x="762000" y="2714625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rPr>
                <a:t>Autonomous agents that reason, plan, and execute across files, using tools and verifying results.</a:t>
              </a:r>
              <a:endParaRPr b="0" sz="120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62" name="Google Shape;262;p29"/>
          <p:cNvPicPr preferRelativeResize="0"/>
          <p:nvPr/>
        </p:nvPicPr>
        <p:blipFill rotWithShape="1">
          <a:blip r:embed="rId4">
            <a:alphaModFix/>
          </a:blip>
          <a:srcRect b="0" l="26101" r="14968" t="9869"/>
          <a:stretch/>
        </p:blipFill>
        <p:spPr>
          <a:xfrm>
            <a:off x="3372650" y="1465600"/>
            <a:ext cx="4333823" cy="31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9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Evolution of AI &amp; Coding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64" name="Google Shape;264;p29"/>
          <p:cNvPicPr preferRelativeResize="0"/>
          <p:nvPr/>
        </p:nvPicPr>
        <p:blipFill rotWithShape="1">
          <a:blip r:embed="rId5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3901650" y="2078000"/>
            <a:ext cx="3513000" cy="4929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30"/>
          <p:cNvGrpSpPr/>
          <p:nvPr/>
        </p:nvGrpSpPr>
        <p:grpSpPr>
          <a:xfrm>
            <a:off x="571500" y="1428750"/>
            <a:ext cx="8048625" cy="3431700"/>
            <a:chOff x="571500" y="1188960"/>
            <a:chExt cx="8048625" cy="3431700"/>
          </a:xfrm>
        </p:grpSpPr>
        <p:grpSp>
          <p:nvGrpSpPr>
            <p:cNvPr id="272" name="Google Shape;272;p30"/>
            <p:cNvGrpSpPr/>
            <p:nvPr/>
          </p:nvGrpSpPr>
          <p:grpSpPr>
            <a:xfrm>
              <a:off x="571500" y="1188960"/>
              <a:ext cx="1905000" cy="3431700"/>
              <a:chOff x="571500" y="1188960"/>
              <a:chExt cx="1905000" cy="3431700"/>
            </a:xfrm>
          </p:grpSpPr>
          <p:sp>
            <p:nvSpPr>
              <p:cNvPr id="273" name="Google Shape;273;p30"/>
              <p:cNvSpPr/>
              <p:nvPr/>
            </p:nvSpPr>
            <p:spPr>
              <a:xfrm>
                <a:off x="571500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30"/>
              <p:cNvSpPr txBox="1"/>
              <p:nvPr/>
            </p:nvSpPr>
            <p:spPr>
              <a:xfrm>
                <a:off x="571500" y="1188960"/>
                <a:ext cx="1905000" cy="34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developer_mode</a:t>
                </a:r>
                <a:r>
                  <a:rPr b="1" lang="en" sz="15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IDE</a:t>
                </a:r>
                <a:endParaRPr sz="1500"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chemeClr val="accent3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chemeClr val="accent3"/>
                    </a:solidFill>
                    <a:latin typeface="Lato"/>
                    <a:ea typeface="Lato"/>
                    <a:cs typeface="Lato"/>
                    <a:sym typeface="Lato"/>
                  </a:rPr>
                  <a:t>Copilot in VS Code</a:t>
                </a:r>
                <a:endParaRPr sz="1700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CCCCCC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CCCCCC"/>
                    </a:solidFill>
                    <a:latin typeface="Lato"/>
                    <a:ea typeface="Lato"/>
                    <a:cs typeface="Lato"/>
                    <a:sym typeface="Lato"/>
                  </a:rPr>
                  <a:t>Cursor</a:t>
                </a:r>
                <a:endParaRPr sz="17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CCCCCC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CCCCCC"/>
                    </a:solidFill>
                    <a:latin typeface="Lato"/>
                    <a:ea typeface="Lato"/>
                    <a:cs typeface="Lato"/>
                    <a:sym typeface="Lato"/>
                  </a:rPr>
                  <a:t>Windsurf</a:t>
                </a:r>
                <a:endParaRPr sz="17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chemeClr val="accent3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chemeClr val="accent3"/>
                    </a:solidFill>
                    <a:latin typeface="Lato"/>
                    <a:ea typeface="Lato"/>
                    <a:cs typeface="Lato"/>
                    <a:sym typeface="Lato"/>
                  </a:rPr>
                  <a:t>Antigravity</a:t>
                </a:r>
                <a:endParaRPr sz="1700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75" name="Google Shape;275;p30"/>
            <p:cNvSpPr/>
            <p:nvPr/>
          </p:nvSpPr>
          <p:spPr>
            <a:xfrm>
              <a:off x="6715125" y="1524000"/>
              <a:ext cx="1905000" cy="2952900"/>
            </a:xfrm>
            <a:prstGeom prst="roundRect">
              <a:avLst>
                <a:gd fmla="val 6000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6" name="Google Shape;276;p30"/>
          <p:cNvPicPr preferRelativeResize="0"/>
          <p:nvPr/>
        </p:nvPicPr>
        <p:blipFill rotWithShape="1">
          <a:blip r:embed="rId4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0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0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Coding Agents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5" name="Google Shape;285;p31"/>
          <p:cNvGrpSpPr/>
          <p:nvPr/>
        </p:nvGrpSpPr>
        <p:grpSpPr>
          <a:xfrm>
            <a:off x="571500" y="1428767"/>
            <a:ext cx="3952875" cy="3391985"/>
            <a:chOff x="571500" y="1524000"/>
            <a:chExt cx="3952875" cy="3060806"/>
          </a:xfrm>
        </p:grpSpPr>
        <p:grpSp>
          <p:nvGrpSpPr>
            <p:cNvPr id="286" name="Google Shape;286;p31"/>
            <p:cNvGrpSpPr/>
            <p:nvPr/>
          </p:nvGrpSpPr>
          <p:grpSpPr>
            <a:xfrm>
              <a:off x="571500" y="1524000"/>
              <a:ext cx="1905000" cy="3025405"/>
              <a:chOff x="571500" y="1524000"/>
              <a:chExt cx="1905000" cy="3025405"/>
            </a:xfrm>
          </p:grpSpPr>
          <p:sp>
            <p:nvSpPr>
              <p:cNvPr id="287" name="Google Shape;287;p31"/>
              <p:cNvSpPr/>
              <p:nvPr/>
            </p:nvSpPr>
            <p:spPr>
              <a:xfrm>
                <a:off x="571500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31"/>
              <p:cNvSpPr txBox="1"/>
              <p:nvPr/>
            </p:nvSpPr>
            <p:spPr>
              <a:xfrm>
                <a:off x="571500" y="1560505"/>
                <a:ext cx="1905000" cy="298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developer_mode</a:t>
                </a:r>
                <a:r>
                  <a:rPr b="1" lang="en" sz="15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IDE</a:t>
                </a:r>
                <a:endParaRPr sz="1500"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rgbClr val="E6B8AF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Copilot in VS Code</a:t>
                </a:r>
                <a:endParaRPr sz="17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Cursor</a:t>
                </a:r>
                <a:endParaRPr sz="17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Windsurf</a:t>
                </a:r>
                <a:endParaRPr sz="17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Antigravity</a:t>
                </a:r>
                <a:endParaRPr sz="17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89" name="Google Shape;289;p31"/>
            <p:cNvGrpSpPr/>
            <p:nvPr/>
          </p:nvGrpSpPr>
          <p:grpSpPr>
            <a:xfrm>
              <a:off x="2619375" y="1524000"/>
              <a:ext cx="1905000" cy="3060806"/>
              <a:chOff x="2619375" y="1524000"/>
              <a:chExt cx="1905000" cy="3060806"/>
            </a:xfrm>
          </p:grpSpPr>
          <p:sp>
            <p:nvSpPr>
              <p:cNvPr id="290" name="Google Shape;290;p31"/>
              <p:cNvSpPr/>
              <p:nvPr/>
            </p:nvSpPr>
            <p:spPr>
              <a:xfrm>
                <a:off x="2619375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31"/>
              <p:cNvSpPr txBox="1"/>
              <p:nvPr/>
            </p:nvSpPr>
            <p:spPr>
              <a:xfrm>
                <a:off x="2619375" y="1631906"/>
                <a:ext cx="19050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terminal</a:t>
                </a:r>
                <a:r>
                  <a:rPr b="1" lang="en" sz="15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CLI</a:t>
                </a:r>
                <a:endParaRPr sz="1500"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chemeClr val="accent3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chemeClr val="accent3"/>
                    </a:solidFill>
                    <a:latin typeface="Lato"/>
                    <a:ea typeface="Lato"/>
                    <a:cs typeface="Lato"/>
                    <a:sym typeface="Lato"/>
                  </a:rPr>
                  <a:t>Copilot CLI</a:t>
                </a:r>
                <a:endParaRPr sz="1700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CCCCCC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CCCCCC"/>
                    </a:solidFill>
                    <a:latin typeface="Lato"/>
                    <a:ea typeface="Lato"/>
                    <a:cs typeface="Lato"/>
                    <a:sym typeface="Lato"/>
                  </a:rPr>
                  <a:t>Claude Code</a:t>
                </a:r>
                <a:endParaRPr sz="17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CCCCCC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CCCCCC"/>
                    </a:solidFill>
                    <a:latin typeface="Lato"/>
                    <a:ea typeface="Lato"/>
                    <a:cs typeface="Lato"/>
                    <a:sym typeface="Lato"/>
                  </a:rPr>
                  <a:t>Pi</a:t>
                </a:r>
                <a:endParaRPr sz="17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pic>
        <p:nvPicPr>
          <p:cNvPr id="292" name="Google Shape;292;p31"/>
          <p:cNvPicPr preferRelativeResize="0"/>
          <p:nvPr/>
        </p:nvPicPr>
        <p:blipFill rotWithShape="1">
          <a:blip r:embed="rId4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1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2654507" y="1536644"/>
            <a:ext cx="2143800" cy="32406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" name="Google Shape;295;p31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Coding Agents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1" name="Google Shape;301;p32"/>
          <p:cNvGrpSpPr/>
          <p:nvPr/>
        </p:nvGrpSpPr>
        <p:grpSpPr>
          <a:xfrm>
            <a:off x="571500" y="1428767"/>
            <a:ext cx="3952875" cy="3431885"/>
            <a:chOff x="571500" y="1524000"/>
            <a:chExt cx="3952875" cy="3096810"/>
          </a:xfrm>
        </p:grpSpPr>
        <p:grpSp>
          <p:nvGrpSpPr>
            <p:cNvPr id="302" name="Google Shape;302;p32"/>
            <p:cNvGrpSpPr/>
            <p:nvPr/>
          </p:nvGrpSpPr>
          <p:grpSpPr>
            <a:xfrm>
              <a:off x="571500" y="1524000"/>
              <a:ext cx="1905000" cy="3096810"/>
              <a:chOff x="571500" y="1524000"/>
              <a:chExt cx="1905000" cy="3096810"/>
            </a:xfrm>
          </p:grpSpPr>
          <p:sp>
            <p:nvSpPr>
              <p:cNvPr id="303" name="Google Shape;303;p32"/>
              <p:cNvSpPr/>
              <p:nvPr/>
            </p:nvSpPr>
            <p:spPr>
              <a:xfrm>
                <a:off x="571500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32"/>
              <p:cNvSpPr txBox="1"/>
              <p:nvPr/>
            </p:nvSpPr>
            <p:spPr>
              <a:xfrm>
                <a:off x="571500" y="1631910"/>
                <a:ext cx="1905000" cy="2988900"/>
              </a:xfrm>
              <a:prstGeom prst="rect">
                <a:avLst/>
              </a:prstGeom>
              <a:noFill/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developer_mode</a:t>
                </a:r>
                <a:r>
                  <a:rPr b="1" lang="en" sz="15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IDE</a:t>
                </a:r>
                <a:endParaRPr sz="1500"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rgbClr val="E6B8AF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Copilot in VS Code</a:t>
                </a:r>
                <a:endParaRPr sz="17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Cursor</a:t>
                </a:r>
                <a:endParaRPr sz="17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Windsurf</a:t>
                </a:r>
                <a:endParaRPr sz="17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Antigravity</a:t>
                </a:r>
                <a:endParaRPr sz="17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05" name="Google Shape;305;p32"/>
            <p:cNvGrpSpPr/>
            <p:nvPr/>
          </p:nvGrpSpPr>
          <p:grpSpPr>
            <a:xfrm>
              <a:off x="2619375" y="1524000"/>
              <a:ext cx="1905000" cy="3060806"/>
              <a:chOff x="2619375" y="1524000"/>
              <a:chExt cx="1905000" cy="3060806"/>
            </a:xfrm>
          </p:grpSpPr>
          <p:sp>
            <p:nvSpPr>
              <p:cNvPr id="306" name="Google Shape;306;p32"/>
              <p:cNvSpPr/>
              <p:nvPr/>
            </p:nvSpPr>
            <p:spPr>
              <a:xfrm>
                <a:off x="2619375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32"/>
              <p:cNvSpPr txBox="1"/>
              <p:nvPr/>
            </p:nvSpPr>
            <p:spPr>
              <a:xfrm>
                <a:off x="2619375" y="1631906"/>
                <a:ext cx="19050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terminal</a:t>
                </a:r>
                <a:r>
                  <a:rPr b="1" lang="en" sz="15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CLI</a:t>
                </a:r>
                <a:endParaRPr sz="1500"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rgbClr val="E6B8AF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Copilot CLI</a:t>
                </a:r>
                <a:endParaRPr sz="17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Claude Code</a:t>
                </a:r>
                <a:endParaRPr sz="17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65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700"/>
                  <a:buFont typeface="Lato"/>
                  <a:buChar char="●"/>
                </a:pPr>
                <a:r>
                  <a:rPr lang="en" sz="17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Pi</a:t>
                </a:r>
                <a:endParaRPr sz="17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pic>
        <p:nvPicPr>
          <p:cNvPr id="308" name="Google Shape;308;p32"/>
          <p:cNvPicPr preferRelativeResize="0"/>
          <p:nvPr/>
        </p:nvPicPr>
        <p:blipFill rotWithShape="1">
          <a:blip r:embed="rId4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2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32"/>
          <p:cNvSpPr/>
          <p:nvPr/>
        </p:nvSpPr>
        <p:spPr>
          <a:xfrm>
            <a:off x="4812619" y="1536644"/>
            <a:ext cx="2143800" cy="32406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32"/>
          <p:cNvSpPr txBox="1"/>
          <p:nvPr/>
        </p:nvSpPr>
        <p:spPr>
          <a:xfrm>
            <a:off x="4871075" y="1536650"/>
            <a:ext cx="2047800" cy="3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public</a:t>
            </a:r>
            <a:r>
              <a:rPr b="1" lang="en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Web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1125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Copilot in GitHub.com</a:t>
            </a:r>
            <a:endParaRPr sz="17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Codex</a:t>
            </a:r>
            <a:endParaRPr sz="17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Lato"/>
              <a:buChar char="●"/>
            </a:pPr>
            <a:r>
              <a:rPr lang="en" sz="170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rPr>
              <a:t>Jules</a:t>
            </a:r>
            <a:endParaRPr sz="1700">
              <a:solidFill>
                <a:srgbClr val="CCCCC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32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Coding Agents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3"/>
          <p:cNvSpPr/>
          <p:nvPr/>
        </p:nvSpPr>
        <p:spPr>
          <a:xfrm>
            <a:off x="571500" y="4762500"/>
            <a:ext cx="8001000" cy="96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33"/>
          <p:cNvGrpSpPr/>
          <p:nvPr/>
        </p:nvGrpSpPr>
        <p:grpSpPr>
          <a:xfrm>
            <a:off x="571500" y="1763790"/>
            <a:ext cx="8048625" cy="3096775"/>
            <a:chOff x="571500" y="1524000"/>
            <a:chExt cx="8048625" cy="3096775"/>
          </a:xfrm>
        </p:grpSpPr>
        <p:grpSp>
          <p:nvGrpSpPr>
            <p:cNvPr id="320" name="Google Shape;320;p33"/>
            <p:cNvGrpSpPr/>
            <p:nvPr/>
          </p:nvGrpSpPr>
          <p:grpSpPr>
            <a:xfrm>
              <a:off x="571500" y="1524000"/>
              <a:ext cx="1905000" cy="3096775"/>
              <a:chOff x="571500" y="1524000"/>
              <a:chExt cx="1905000" cy="3096775"/>
            </a:xfrm>
          </p:grpSpPr>
          <p:sp>
            <p:nvSpPr>
              <p:cNvPr id="321" name="Google Shape;321;p33"/>
              <p:cNvSpPr/>
              <p:nvPr/>
            </p:nvSpPr>
            <p:spPr>
              <a:xfrm>
                <a:off x="571500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33"/>
              <p:cNvSpPr txBox="1"/>
              <p:nvPr/>
            </p:nvSpPr>
            <p:spPr>
              <a:xfrm>
                <a:off x="571500" y="1667875"/>
                <a:ext cx="19050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developer_mode</a:t>
                </a: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IDE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rgbClr val="E6B8AF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Copilot in VS Code</a:t>
                </a:r>
                <a:endParaRPr sz="16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Cursor</a:t>
                </a:r>
                <a:endParaRPr sz="16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Windsurf</a:t>
                </a:r>
                <a:endParaRPr sz="16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Antigravity</a:t>
                </a:r>
                <a:endParaRPr sz="16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23" name="Google Shape;323;p33"/>
            <p:cNvGrpSpPr/>
            <p:nvPr/>
          </p:nvGrpSpPr>
          <p:grpSpPr>
            <a:xfrm>
              <a:off x="2619375" y="1524000"/>
              <a:ext cx="1905000" cy="3060806"/>
              <a:chOff x="2619375" y="1524000"/>
              <a:chExt cx="1905000" cy="3060806"/>
            </a:xfrm>
          </p:grpSpPr>
          <p:sp>
            <p:nvSpPr>
              <p:cNvPr id="324" name="Google Shape;324;p33"/>
              <p:cNvSpPr/>
              <p:nvPr/>
            </p:nvSpPr>
            <p:spPr>
              <a:xfrm>
                <a:off x="2619375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33"/>
              <p:cNvSpPr txBox="1"/>
              <p:nvPr/>
            </p:nvSpPr>
            <p:spPr>
              <a:xfrm>
                <a:off x="2619375" y="1631906"/>
                <a:ext cx="19050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terminal</a:t>
                </a: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CLI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rgbClr val="E6B8AF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Copilot CLI</a:t>
                </a:r>
                <a:endParaRPr sz="16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Claude Code</a:t>
                </a:r>
                <a:endParaRPr sz="16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Pi</a:t>
                </a:r>
                <a:endParaRPr sz="16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26" name="Google Shape;326;p33"/>
            <p:cNvGrpSpPr/>
            <p:nvPr/>
          </p:nvGrpSpPr>
          <p:grpSpPr>
            <a:xfrm>
              <a:off x="4667250" y="1524000"/>
              <a:ext cx="2047800" cy="3036835"/>
              <a:chOff x="4667250" y="1524000"/>
              <a:chExt cx="2047800" cy="3036835"/>
            </a:xfrm>
          </p:grpSpPr>
          <p:sp>
            <p:nvSpPr>
              <p:cNvPr id="327" name="Google Shape;327;p33"/>
              <p:cNvSpPr/>
              <p:nvPr/>
            </p:nvSpPr>
            <p:spPr>
              <a:xfrm>
                <a:off x="4667250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33"/>
              <p:cNvSpPr txBox="1"/>
              <p:nvPr/>
            </p:nvSpPr>
            <p:spPr>
              <a:xfrm>
                <a:off x="4667250" y="1607935"/>
                <a:ext cx="20478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public</a:t>
                </a: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Web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rgbClr val="E6B8AF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Copilot in GitHub.com</a:t>
                </a:r>
                <a:endParaRPr sz="16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Codex</a:t>
                </a:r>
                <a:endParaRPr sz="16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E6B8AF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rgbClr val="E6B8AF"/>
                    </a:solidFill>
                    <a:latin typeface="Lato"/>
                    <a:ea typeface="Lato"/>
                    <a:cs typeface="Lato"/>
                    <a:sym typeface="Lato"/>
                  </a:rPr>
                  <a:t>Jules</a:t>
                </a:r>
                <a:endParaRPr sz="16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29" name="Google Shape;329;p33"/>
            <p:cNvGrpSpPr/>
            <p:nvPr/>
          </p:nvGrpSpPr>
          <p:grpSpPr>
            <a:xfrm>
              <a:off x="6715125" y="1524000"/>
              <a:ext cx="1905000" cy="3000858"/>
              <a:chOff x="6715125" y="1524000"/>
              <a:chExt cx="1905000" cy="3000858"/>
            </a:xfrm>
          </p:grpSpPr>
          <p:sp>
            <p:nvSpPr>
              <p:cNvPr id="330" name="Google Shape;330;p33"/>
              <p:cNvSpPr/>
              <p:nvPr/>
            </p:nvSpPr>
            <p:spPr>
              <a:xfrm>
                <a:off x="6715125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3"/>
              <p:cNvSpPr txBox="1"/>
              <p:nvPr/>
            </p:nvSpPr>
            <p:spPr>
              <a:xfrm>
                <a:off x="6715125" y="1571958"/>
                <a:ext cx="19050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build</a:t>
                </a: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Custom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rgbClr val="CCCCCC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rgbClr val="CCCCCC"/>
                    </a:solidFill>
                    <a:latin typeface="Lato"/>
                    <a:ea typeface="Lato"/>
                    <a:cs typeface="Lato"/>
                    <a:sym typeface="Lato"/>
                  </a:rPr>
                  <a:t>Copilot SDK</a:t>
                </a:r>
                <a:endParaRPr sz="16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CCCCCC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rgbClr val="CCCCCC"/>
                    </a:solidFill>
                    <a:latin typeface="Lato"/>
                    <a:ea typeface="Lato"/>
                    <a:cs typeface="Lato"/>
                    <a:sym typeface="Lato"/>
                  </a:rPr>
                  <a:t>PyDantic AI</a:t>
                </a:r>
                <a:endParaRPr sz="16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CCCCCC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rgbClr val="CCCCCC"/>
                    </a:solidFill>
                    <a:latin typeface="Lato"/>
                    <a:ea typeface="Lato"/>
                    <a:cs typeface="Lato"/>
                    <a:sym typeface="Lato"/>
                  </a:rPr>
                  <a:t>LangChain</a:t>
                </a:r>
                <a:endParaRPr sz="16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pic>
        <p:nvPicPr>
          <p:cNvPr id="332" name="Google Shape;332;p33"/>
          <p:cNvPicPr preferRelativeResize="0"/>
          <p:nvPr/>
        </p:nvPicPr>
        <p:blipFill rotWithShape="1">
          <a:blip r:embed="rId4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3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4" name="Google Shape;334;p33"/>
          <p:cNvSpPr/>
          <p:nvPr/>
        </p:nvSpPr>
        <p:spPr>
          <a:xfrm>
            <a:off x="6718950" y="1851175"/>
            <a:ext cx="2143800" cy="25632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Coding Agents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34"/>
          <p:cNvGrpSpPr/>
          <p:nvPr/>
        </p:nvGrpSpPr>
        <p:grpSpPr>
          <a:xfrm>
            <a:off x="571500" y="1714500"/>
            <a:ext cx="3429000" cy="2667000"/>
            <a:chOff x="571500" y="1714500"/>
            <a:chExt cx="3429000" cy="2667000"/>
          </a:xfrm>
        </p:grpSpPr>
        <p:sp>
          <p:nvSpPr>
            <p:cNvPr id="341" name="Google Shape;341;p34"/>
            <p:cNvSpPr/>
            <p:nvPr/>
          </p:nvSpPr>
          <p:spPr>
            <a:xfrm>
              <a:off x="571500" y="1714500"/>
              <a:ext cx="3429000" cy="2667000"/>
            </a:xfrm>
            <a:prstGeom prst="roundRect">
              <a:avLst>
                <a:gd fmla="val 4285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4"/>
            <p:cNvSpPr txBox="1"/>
            <p:nvPr/>
          </p:nvSpPr>
          <p:spPr>
            <a:xfrm>
              <a:off x="762000" y="1905000"/>
              <a:ext cx="3048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What is an AI Agent?</a:t>
              </a:r>
              <a:endParaRPr b="1" sz="28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An AI Agent is an LLM that calls tools in a loop to achieve a goal.</a:t>
              </a:r>
              <a:endParaRPr b="0" sz="1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343" name="Google Shape;343;p34"/>
          <p:cNvSpPr txBox="1"/>
          <p:nvPr/>
        </p:nvSpPr>
        <p:spPr>
          <a:xfrm>
            <a:off x="660025" y="4321125"/>
            <a:ext cx="625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B5600"/>
                </a:solidFill>
              </a:rPr>
              <a:t>Source: </a:t>
            </a:r>
            <a:r>
              <a:rPr lang="en" sz="1200">
                <a:solidFill>
                  <a:srgbClr val="EB5600"/>
                </a:solidFill>
              </a:rPr>
              <a:t>https://simonwillison.net/2025/Sep/18/agents/?utm_source=chatgpt.com</a:t>
            </a:r>
            <a:endParaRPr sz="1200">
              <a:solidFill>
                <a:srgbClr val="EB5600"/>
              </a:solidFill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34"/>
          <p:cNvPicPr preferRelativeResize="0"/>
          <p:nvPr/>
        </p:nvPicPr>
        <p:blipFill rotWithShape="1">
          <a:blip r:embed="rId4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4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7" name="Google Shape;347;p34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Coding Agents &amp; Agentic Loop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5"/>
          <p:cNvSpPr/>
          <p:nvPr/>
        </p:nvSpPr>
        <p:spPr>
          <a:xfrm>
            <a:off x="4381500" y="1333500"/>
            <a:ext cx="4191000" cy="3238500"/>
          </a:xfrm>
          <a:prstGeom prst="roundRect">
            <a:avLst>
              <a:gd fmla="val 4705" name="adj"/>
            </a:avLst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35"/>
          <p:cNvPicPr preferRelativeResize="0"/>
          <p:nvPr/>
        </p:nvPicPr>
        <p:blipFill rotWithShape="1">
          <a:blip r:embed="rId4">
            <a:alphaModFix/>
          </a:blip>
          <a:srcRect b="12197" l="0" r="0" t="16604"/>
          <a:stretch/>
        </p:blipFill>
        <p:spPr>
          <a:xfrm>
            <a:off x="4189924" y="1476375"/>
            <a:ext cx="4548300" cy="3238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5" name="Google Shape;355;p35"/>
          <p:cNvGrpSpPr/>
          <p:nvPr/>
        </p:nvGrpSpPr>
        <p:grpSpPr>
          <a:xfrm>
            <a:off x="571500" y="1714500"/>
            <a:ext cx="3429000" cy="2667000"/>
            <a:chOff x="571500" y="1714500"/>
            <a:chExt cx="3429000" cy="2667000"/>
          </a:xfrm>
        </p:grpSpPr>
        <p:sp>
          <p:nvSpPr>
            <p:cNvPr id="356" name="Google Shape;356;p35"/>
            <p:cNvSpPr/>
            <p:nvPr/>
          </p:nvSpPr>
          <p:spPr>
            <a:xfrm>
              <a:off x="571500" y="1714500"/>
              <a:ext cx="3429000" cy="2667000"/>
            </a:xfrm>
            <a:prstGeom prst="roundRect">
              <a:avLst>
                <a:gd fmla="val 4285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5"/>
            <p:cNvSpPr txBox="1"/>
            <p:nvPr/>
          </p:nvSpPr>
          <p:spPr>
            <a:xfrm>
              <a:off x="762000" y="1905000"/>
              <a:ext cx="3048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accent3">
                  <a:alpha val="50000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What is an AI Agent?</a:t>
              </a:r>
              <a:endParaRPr b="1" sz="28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An AI Agent is an </a:t>
              </a:r>
              <a:r>
                <a:rPr b="1" lang="en" sz="1800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LLM that calls tools</a:t>
              </a:r>
              <a:r>
                <a:rPr b="0" lang="en" sz="1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in a loop to achieve a goal.</a:t>
              </a:r>
              <a:endParaRPr b="0" sz="1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358" name="Google Shape;358;p35"/>
          <p:cNvPicPr preferRelativeResize="0"/>
          <p:nvPr/>
        </p:nvPicPr>
        <p:blipFill rotWithShape="1">
          <a:blip r:embed="rId5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5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p35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Coding Agents &amp; Agentic Loop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6"/>
          <p:cNvSpPr/>
          <p:nvPr/>
        </p:nvSpPr>
        <p:spPr>
          <a:xfrm>
            <a:off x="4381500" y="1333500"/>
            <a:ext cx="4191000" cy="3238500"/>
          </a:xfrm>
          <a:prstGeom prst="roundRect">
            <a:avLst>
              <a:gd fmla="val 4705" name="adj"/>
            </a:avLst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7" name="Google Shape;367;p36"/>
          <p:cNvGrpSpPr/>
          <p:nvPr/>
        </p:nvGrpSpPr>
        <p:grpSpPr>
          <a:xfrm>
            <a:off x="571500" y="1714500"/>
            <a:ext cx="3429000" cy="2667000"/>
            <a:chOff x="571500" y="1714500"/>
            <a:chExt cx="3429000" cy="2667000"/>
          </a:xfrm>
        </p:grpSpPr>
        <p:sp>
          <p:nvSpPr>
            <p:cNvPr id="368" name="Google Shape;368;p36"/>
            <p:cNvSpPr/>
            <p:nvPr/>
          </p:nvSpPr>
          <p:spPr>
            <a:xfrm>
              <a:off x="571500" y="1714500"/>
              <a:ext cx="3429000" cy="2667000"/>
            </a:xfrm>
            <a:prstGeom prst="roundRect">
              <a:avLst>
                <a:gd fmla="val 4285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6"/>
            <p:cNvSpPr txBox="1"/>
            <p:nvPr/>
          </p:nvSpPr>
          <p:spPr>
            <a:xfrm>
              <a:off x="762000" y="1905000"/>
              <a:ext cx="3048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accent3">
                  <a:alpha val="50000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What is an AI Agent?</a:t>
              </a:r>
              <a:endParaRPr b="1" sz="28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An AI Agent is an </a:t>
              </a:r>
              <a:r>
                <a:rPr b="1" lang="en" sz="18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LLM </a:t>
              </a:r>
              <a:r>
                <a:rPr lang="en" sz="18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that</a:t>
              </a:r>
              <a:r>
                <a:rPr b="1" lang="en" sz="18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 calls tools</a:t>
              </a:r>
              <a:r>
                <a:rPr b="0" lang="en" sz="1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in a </a:t>
              </a:r>
              <a:r>
                <a:rPr b="1" lang="en" sz="1800">
                  <a:solidFill>
                    <a:schemeClr val="accent3"/>
                  </a:solidFill>
                  <a:latin typeface="Raleway"/>
                  <a:ea typeface="Raleway"/>
                  <a:cs typeface="Raleway"/>
                  <a:sym typeface="Raleway"/>
                </a:rPr>
                <a:t>loop</a:t>
              </a:r>
              <a:r>
                <a:rPr b="0" lang="en" sz="1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to achieve a goal.</a:t>
              </a:r>
              <a:endParaRPr b="0" sz="1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370" name="Google Shape;370;p36"/>
          <p:cNvPicPr preferRelativeResize="0"/>
          <p:nvPr/>
        </p:nvPicPr>
        <p:blipFill rotWithShape="1">
          <a:blip r:embed="rId4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6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72" name="Google Shape;372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0500" y="1833550"/>
            <a:ext cx="5023049" cy="224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6"/>
          <p:cNvSpPr/>
          <p:nvPr/>
        </p:nvSpPr>
        <p:spPr>
          <a:xfrm>
            <a:off x="5172525" y="2170300"/>
            <a:ext cx="3376200" cy="13695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" name="Google Shape;374;p36"/>
          <p:cNvSpPr txBox="1"/>
          <p:nvPr/>
        </p:nvSpPr>
        <p:spPr>
          <a:xfrm>
            <a:off x="4102219" y="4162850"/>
            <a:ext cx="465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B5600"/>
                </a:solidFill>
              </a:rPr>
              <a:t>Source: https://code.claude.com/docs/en/how-claude-code-works</a:t>
            </a:r>
            <a:endParaRPr sz="1200">
              <a:solidFill>
                <a:srgbClr val="EB5600"/>
              </a:solidFill>
            </a:endParaRPr>
          </a:p>
        </p:txBody>
      </p:sp>
      <p:sp>
        <p:nvSpPr>
          <p:cNvPr id="375" name="Google Shape;375;p36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Coding Agents &amp; Agentic Loop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37"/>
          <p:cNvGrpSpPr/>
          <p:nvPr/>
        </p:nvGrpSpPr>
        <p:grpSpPr>
          <a:xfrm>
            <a:off x="571500" y="476250"/>
            <a:ext cx="8001000" cy="714375"/>
            <a:chOff x="571500" y="476250"/>
            <a:chExt cx="8001000" cy="714375"/>
          </a:xfrm>
        </p:grpSpPr>
        <p:sp>
          <p:nvSpPr>
            <p:cNvPr id="381" name="Google Shape;381;p37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7"/>
            <p:cNvSpPr txBox="1"/>
            <p:nvPr/>
          </p:nvSpPr>
          <p:spPr>
            <a:xfrm>
              <a:off x="571500" y="619125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Quick Pricing Overview (April 2026)</a:t>
              </a:r>
              <a:endParaRPr b="1" i="0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383" name="Google Shape;383;p37"/>
          <p:cNvPicPr preferRelativeResize="0"/>
          <p:nvPr/>
        </p:nvPicPr>
        <p:blipFill rotWithShape="1">
          <a:blip r:embed="rId4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7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85" name="Google Shape;385;p37"/>
          <p:cNvGrpSpPr/>
          <p:nvPr/>
        </p:nvGrpSpPr>
        <p:grpSpPr>
          <a:xfrm>
            <a:off x="571500" y="1333500"/>
            <a:ext cx="8001000" cy="3238650"/>
            <a:chOff x="571500" y="1333500"/>
            <a:chExt cx="8001000" cy="3238650"/>
          </a:xfrm>
        </p:grpSpPr>
        <p:sp>
          <p:nvSpPr>
            <p:cNvPr id="386" name="Google Shape;386;p37"/>
            <p:cNvSpPr/>
            <p:nvPr/>
          </p:nvSpPr>
          <p:spPr>
            <a:xfrm>
              <a:off x="571500" y="1333500"/>
              <a:ext cx="8001000" cy="3238500"/>
            </a:xfrm>
            <a:prstGeom prst="roundRect">
              <a:avLst>
                <a:gd fmla="val 4411" name="adj"/>
              </a:avLst>
            </a:prstGeom>
            <a:solidFill>
              <a:srgbClr val="FFFFFF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571500" y="1333500"/>
              <a:ext cx="8001000" cy="571500"/>
            </a:xfrm>
            <a:prstGeom prst="roundRect">
              <a:avLst>
                <a:gd fmla="val 25000" name="adj"/>
              </a:avLst>
            </a:prstGeom>
            <a:solidFill>
              <a:srgbClr val="EB560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8" name="Google Shape;388;p37"/>
            <p:cNvGrpSpPr/>
            <p:nvPr/>
          </p:nvGrpSpPr>
          <p:grpSpPr>
            <a:xfrm>
              <a:off x="571500" y="1333500"/>
              <a:ext cx="8001000" cy="571500"/>
              <a:chOff x="571500" y="1333500"/>
              <a:chExt cx="8001000" cy="571500"/>
            </a:xfrm>
          </p:grpSpPr>
          <p:sp>
            <p:nvSpPr>
              <p:cNvPr id="389" name="Google Shape;389;p37"/>
              <p:cNvSpPr txBox="1"/>
              <p:nvPr/>
            </p:nvSpPr>
            <p:spPr>
              <a:xfrm>
                <a:off x="571500" y="1333500"/>
                <a:ext cx="2286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9050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EB560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Service</a:t>
                </a:r>
                <a:endParaRPr b="1" sz="14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390" name="Google Shape;390;p37"/>
              <p:cNvSpPr txBox="1"/>
              <p:nvPr/>
            </p:nvSpPr>
            <p:spPr>
              <a:xfrm>
                <a:off x="2857500" y="1333500"/>
                <a:ext cx="1905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Individual Plan</a:t>
                </a:r>
                <a:endParaRPr b="1" sz="1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391" name="Google Shape;391;p37"/>
              <p:cNvSpPr txBox="1"/>
              <p:nvPr/>
            </p:nvSpPr>
            <p:spPr>
              <a:xfrm>
                <a:off x="4762500" y="1333500"/>
                <a:ext cx="1905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High-Usage/Max</a:t>
                </a:r>
                <a:endParaRPr b="1" sz="1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392" name="Google Shape;392;p37"/>
              <p:cNvSpPr txBox="1"/>
              <p:nvPr/>
            </p:nvSpPr>
            <p:spPr>
              <a:xfrm>
                <a:off x="6667500" y="1333500"/>
                <a:ext cx="1905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19050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Team/Business</a:t>
                </a:r>
                <a:endParaRPr b="1" sz="1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pic>
          <p:nvPicPr>
            <p:cNvPr id="393" name="Google Shape;393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1900238"/>
              <a:ext cx="8001000" cy="9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94" name="Google Shape;394;p37"/>
            <p:cNvGrpSpPr/>
            <p:nvPr/>
          </p:nvGrpSpPr>
          <p:grpSpPr>
            <a:xfrm>
              <a:off x="571500" y="1905000"/>
              <a:ext cx="8001000" cy="671588"/>
              <a:chOff x="571500" y="1333500"/>
              <a:chExt cx="8001000" cy="671588"/>
            </a:xfrm>
          </p:grpSpPr>
          <p:sp>
            <p:nvSpPr>
              <p:cNvPr id="395" name="Google Shape;395;p37"/>
              <p:cNvSpPr txBox="1"/>
              <p:nvPr/>
            </p:nvSpPr>
            <p:spPr>
              <a:xfrm>
                <a:off x="571500" y="1333500"/>
                <a:ext cx="2286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9050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GitHub Copilot</a:t>
                </a:r>
                <a:endParaRPr b="1" sz="13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396" name="Google Shape;396;p37"/>
              <p:cNvSpPr txBox="1"/>
              <p:nvPr/>
            </p:nvSpPr>
            <p:spPr>
              <a:xfrm>
                <a:off x="2857500" y="1333500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$10 /mo</a:t>
                </a:r>
                <a:endParaRPr b="0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397" name="Google Shape;397;p37"/>
              <p:cNvSpPr txBox="1"/>
              <p:nvPr/>
            </p:nvSpPr>
            <p:spPr>
              <a:xfrm>
                <a:off x="4762500" y="1333500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$39 /mo (Pro+)</a:t>
                </a:r>
                <a:endParaRPr b="0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398" name="Google Shape;398;p37"/>
              <p:cNvSpPr txBox="1"/>
              <p:nvPr/>
            </p:nvSpPr>
            <p:spPr>
              <a:xfrm>
                <a:off x="6667500" y="1333500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19050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$19 /user/mo</a:t>
                </a:r>
                <a:endParaRPr b="0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pic>
            <p:nvPicPr>
              <p:cNvPr id="399" name="Google Shape;399;p3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62000" y="1995488"/>
                <a:ext cx="76200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0" name="Google Shape;400;p37"/>
            <p:cNvGrpSpPr/>
            <p:nvPr/>
          </p:nvGrpSpPr>
          <p:grpSpPr>
            <a:xfrm>
              <a:off x="571500" y="2571750"/>
              <a:ext cx="8001000" cy="671588"/>
              <a:chOff x="571500" y="1333500"/>
              <a:chExt cx="8001000" cy="671588"/>
            </a:xfrm>
          </p:grpSpPr>
          <p:sp>
            <p:nvSpPr>
              <p:cNvPr id="401" name="Google Shape;401;p37"/>
              <p:cNvSpPr txBox="1"/>
              <p:nvPr/>
            </p:nvSpPr>
            <p:spPr>
              <a:xfrm>
                <a:off x="571500" y="1333500"/>
                <a:ext cx="2286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9050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Claude</a:t>
                </a:r>
                <a:endParaRPr b="1" sz="13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402" name="Google Shape;402;p37"/>
              <p:cNvSpPr txBox="1"/>
              <p:nvPr/>
            </p:nvSpPr>
            <p:spPr>
              <a:xfrm>
                <a:off x="2857500" y="1333500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$20 /mo</a:t>
                </a:r>
                <a:endParaRPr b="0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403" name="Google Shape;403;p37"/>
              <p:cNvSpPr txBox="1"/>
              <p:nvPr/>
            </p:nvSpPr>
            <p:spPr>
              <a:xfrm>
                <a:off x="4762500" y="1333500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$100 - $200 /mo</a:t>
                </a:r>
                <a:endParaRPr b="0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404" name="Google Shape;404;p37"/>
              <p:cNvSpPr txBox="1"/>
              <p:nvPr/>
            </p:nvSpPr>
            <p:spPr>
              <a:xfrm>
                <a:off x="6667500" y="1333500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19050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$25 /user/mo</a:t>
                </a:r>
                <a:endParaRPr b="0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pic>
            <p:nvPicPr>
              <p:cNvPr id="405" name="Google Shape;405;p3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62000" y="1995488"/>
                <a:ext cx="76200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6" name="Google Shape;406;p37"/>
            <p:cNvGrpSpPr/>
            <p:nvPr/>
          </p:nvGrpSpPr>
          <p:grpSpPr>
            <a:xfrm>
              <a:off x="571500" y="3238500"/>
              <a:ext cx="8001000" cy="671588"/>
              <a:chOff x="571500" y="1333500"/>
              <a:chExt cx="8001000" cy="671588"/>
            </a:xfrm>
          </p:grpSpPr>
          <p:sp>
            <p:nvSpPr>
              <p:cNvPr id="407" name="Google Shape;407;p37"/>
              <p:cNvSpPr txBox="1"/>
              <p:nvPr/>
            </p:nvSpPr>
            <p:spPr>
              <a:xfrm>
                <a:off x="571500" y="1333500"/>
                <a:ext cx="2286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9050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Antigravity</a:t>
                </a:r>
                <a:endParaRPr b="1" sz="13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408" name="Google Shape;408;p37"/>
              <p:cNvSpPr txBox="1"/>
              <p:nvPr/>
            </p:nvSpPr>
            <p:spPr>
              <a:xfrm>
                <a:off x="2857500" y="1333500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$29 /mo</a:t>
                </a:r>
                <a:endParaRPr b="0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409" name="Google Shape;409;p37"/>
              <p:cNvSpPr txBox="1"/>
              <p:nvPr/>
            </p:nvSpPr>
            <p:spPr>
              <a:xfrm>
                <a:off x="4762500" y="1333500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$99 - $250 /mo</a:t>
                </a:r>
                <a:endParaRPr b="0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410" name="Google Shape;410;p37"/>
              <p:cNvSpPr txBox="1"/>
              <p:nvPr/>
            </p:nvSpPr>
            <p:spPr>
              <a:xfrm>
                <a:off x="6667500" y="1333500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19050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Custom</a:t>
                </a:r>
                <a:endParaRPr b="0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pic>
            <p:nvPicPr>
              <p:cNvPr id="411" name="Google Shape;411;p3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62000" y="1995488"/>
                <a:ext cx="76200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2" name="Google Shape;412;p37"/>
            <p:cNvGrpSpPr/>
            <p:nvPr/>
          </p:nvGrpSpPr>
          <p:grpSpPr>
            <a:xfrm>
              <a:off x="571500" y="3905250"/>
              <a:ext cx="8001000" cy="666900"/>
              <a:chOff x="571500" y="1333500"/>
              <a:chExt cx="8001000" cy="666900"/>
            </a:xfrm>
          </p:grpSpPr>
          <p:sp>
            <p:nvSpPr>
              <p:cNvPr id="413" name="Google Shape;413;p37"/>
              <p:cNvSpPr txBox="1"/>
              <p:nvPr/>
            </p:nvSpPr>
            <p:spPr>
              <a:xfrm>
                <a:off x="571500" y="1333500"/>
                <a:ext cx="2286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9050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OpenAI Codex</a:t>
                </a:r>
                <a:endParaRPr b="1" sz="13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414" name="Google Shape;414;p37"/>
              <p:cNvSpPr txBox="1"/>
              <p:nvPr/>
            </p:nvSpPr>
            <p:spPr>
              <a:xfrm>
                <a:off x="2857500" y="1333500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$20 /mo</a:t>
                </a:r>
                <a:br>
                  <a:rPr b="0" lang="en" sz="12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</a:br>
                <a:r>
                  <a:rPr b="0" lang="en" sz="1000">
                    <a:solidFill>
                      <a:srgbClr val="AAAAAA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(via ChatGPT Plus)</a:t>
                </a:r>
                <a:endParaRPr b="0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415" name="Google Shape;415;p37"/>
              <p:cNvSpPr txBox="1"/>
              <p:nvPr/>
            </p:nvSpPr>
            <p:spPr>
              <a:xfrm>
                <a:off x="4762500" y="1333500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$200 /mo (Pro)</a:t>
                </a:r>
                <a:endParaRPr b="0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416" name="Google Shape;416;p37"/>
              <p:cNvSpPr txBox="1"/>
              <p:nvPr/>
            </p:nvSpPr>
            <p:spPr>
              <a:xfrm>
                <a:off x="6667500" y="1333500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19050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$25 /user/mo</a:t>
                </a:r>
                <a:endParaRPr b="0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sp>
        <p:nvSpPr>
          <p:cNvPr id="417" name="Google Shape;417;p37"/>
          <p:cNvSpPr/>
          <p:nvPr/>
        </p:nvSpPr>
        <p:spPr>
          <a:xfrm>
            <a:off x="3101925" y="2064800"/>
            <a:ext cx="1340700" cy="4014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3101925" y="3340375"/>
            <a:ext cx="1340700" cy="4014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38"/>
          <p:cNvGrpSpPr/>
          <p:nvPr/>
        </p:nvGrpSpPr>
        <p:grpSpPr>
          <a:xfrm>
            <a:off x="571500" y="476250"/>
            <a:ext cx="8001000" cy="952500"/>
            <a:chOff x="571500" y="476250"/>
            <a:chExt cx="8001000" cy="952500"/>
          </a:xfrm>
        </p:grpSpPr>
        <p:sp>
          <p:nvSpPr>
            <p:cNvPr id="424" name="Google Shape;424;p38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8"/>
            <p:cNvSpPr txBox="1"/>
            <p:nvPr/>
          </p:nvSpPr>
          <p:spPr>
            <a:xfrm>
              <a:off x="571500" y="66675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Demonstration</a:t>
              </a:r>
              <a:endPara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26" name="Google Shape;426;p38"/>
          <p:cNvGrpSpPr/>
          <p:nvPr/>
        </p:nvGrpSpPr>
        <p:grpSpPr>
          <a:xfrm>
            <a:off x="571501" y="1164977"/>
            <a:ext cx="7787559" cy="3408500"/>
            <a:chOff x="571500" y="1068400"/>
            <a:chExt cx="3952875" cy="3408500"/>
          </a:xfrm>
        </p:grpSpPr>
        <p:grpSp>
          <p:nvGrpSpPr>
            <p:cNvPr id="427" name="Google Shape;427;p38"/>
            <p:cNvGrpSpPr/>
            <p:nvPr/>
          </p:nvGrpSpPr>
          <p:grpSpPr>
            <a:xfrm>
              <a:off x="571500" y="1068400"/>
              <a:ext cx="1905000" cy="3408500"/>
              <a:chOff x="571500" y="1068400"/>
              <a:chExt cx="1905000" cy="3408500"/>
            </a:xfrm>
          </p:grpSpPr>
          <p:sp>
            <p:nvSpPr>
              <p:cNvPr id="428" name="Google Shape;428;p38"/>
              <p:cNvSpPr/>
              <p:nvPr/>
            </p:nvSpPr>
            <p:spPr>
              <a:xfrm>
                <a:off x="571500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38"/>
              <p:cNvSpPr txBox="1"/>
              <p:nvPr/>
            </p:nvSpPr>
            <p:spPr>
              <a:xfrm>
                <a:off x="571500" y="1068400"/>
                <a:ext cx="19050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developer_mode</a:t>
                </a: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IDE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30" name="Google Shape;430;p38"/>
            <p:cNvGrpSpPr/>
            <p:nvPr/>
          </p:nvGrpSpPr>
          <p:grpSpPr>
            <a:xfrm>
              <a:off x="2619375" y="1068406"/>
              <a:ext cx="1905000" cy="3408494"/>
              <a:chOff x="2619375" y="1068406"/>
              <a:chExt cx="1905000" cy="3408494"/>
            </a:xfrm>
          </p:grpSpPr>
          <p:sp>
            <p:nvSpPr>
              <p:cNvPr id="431" name="Google Shape;431;p38"/>
              <p:cNvSpPr/>
              <p:nvPr/>
            </p:nvSpPr>
            <p:spPr>
              <a:xfrm>
                <a:off x="2619375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38"/>
              <p:cNvSpPr txBox="1"/>
              <p:nvPr/>
            </p:nvSpPr>
            <p:spPr>
              <a:xfrm>
                <a:off x="2619375" y="1068406"/>
                <a:ext cx="19050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terminal</a:t>
                </a: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CLI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pic>
        <p:nvPicPr>
          <p:cNvPr id="433" name="Google Shape;433;p38"/>
          <p:cNvPicPr preferRelativeResize="0"/>
          <p:nvPr/>
        </p:nvPicPr>
        <p:blipFill rotWithShape="1">
          <a:blip r:embed="rId4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8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9" name="Google Shape;439;p39"/>
          <p:cNvGrpSpPr/>
          <p:nvPr/>
        </p:nvGrpSpPr>
        <p:grpSpPr>
          <a:xfrm>
            <a:off x="571500" y="476250"/>
            <a:ext cx="8001000" cy="952500"/>
            <a:chOff x="571500" y="476250"/>
            <a:chExt cx="8001000" cy="952500"/>
          </a:xfrm>
        </p:grpSpPr>
        <p:sp>
          <p:nvSpPr>
            <p:cNvPr id="440" name="Google Shape;440;p39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9"/>
            <p:cNvSpPr txBox="1"/>
            <p:nvPr/>
          </p:nvSpPr>
          <p:spPr>
            <a:xfrm>
              <a:off x="571500" y="66675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Demonstration</a:t>
              </a:r>
              <a:endPara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42" name="Google Shape;442;p39"/>
          <p:cNvGrpSpPr/>
          <p:nvPr/>
        </p:nvGrpSpPr>
        <p:grpSpPr>
          <a:xfrm>
            <a:off x="571501" y="1164977"/>
            <a:ext cx="7787559" cy="3408500"/>
            <a:chOff x="571500" y="1068400"/>
            <a:chExt cx="3952875" cy="3408500"/>
          </a:xfrm>
        </p:grpSpPr>
        <p:grpSp>
          <p:nvGrpSpPr>
            <p:cNvPr id="443" name="Google Shape;443;p39"/>
            <p:cNvGrpSpPr/>
            <p:nvPr/>
          </p:nvGrpSpPr>
          <p:grpSpPr>
            <a:xfrm>
              <a:off x="571500" y="1068400"/>
              <a:ext cx="1905000" cy="3408500"/>
              <a:chOff x="571500" y="1068400"/>
              <a:chExt cx="1905000" cy="3408500"/>
            </a:xfrm>
          </p:grpSpPr>
          <p:sp>
            <p:nvSpPr>
              <p:cNvPr id="444" name="Google Shape;444;p39"/>
              <p:cNvSpPr/>
              <p:nvPr/>
            </p:nvSpPr>
            <p:spPr>
              <a:xfrm>
                <a:off x="571500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39"/>
              <p:cNvSpPr txBox="1"/>
              <p:nvPr/>
            </p:nvSpPr>
            <p:spPr>
              <a:xfrm>
                <a:off x="571500" y="1068400"/>
                <a:ext cx="19050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developer_mode</a:t>
                </a: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IDE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46" name="Google Shape;446;p39"/>
            <p:cNvGrpSpPr/>
            <p:nvPr/>
          </p:nvGrpSpPr>
          <p:grpSpPr>
            <a:xfrm>
              <a:off x="2619375" y="1068406"/>
              <a:ext cx="1905000" cy="3408494"/>
              <a:chOff x="2619375" y="1068406"/>
              <a:chExt cx="1905000" cy="3408494"/>
            </a:xfrm>
          </p:grpSpPr>
          <p:sp>
            <p:nvSpPr>
              <p:cNvPr id="447" name="Google Shape;447;p39"/>
              <p:cNvSpPr/>
              <p:nvPr/>
            </p:nvSpPr>
            <p:spPr>
              <a:xfrm>
                <a:off x="2619375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39"/>
              <p:cNvSpPr txBox="1"/>
              <p:nvPr/>
            </p:nvSpPr>
            <p:spPr>
              <a:xfrm>
                <a:off x="2619375" y="1068406"/>
                <a:ext cx="19050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terminal</a:t>
                </a: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CLI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pic>
        <p:nvPicPr>
          <p:cNvPr id="449" name="Google Shape;44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850" y="1689950"/>
            <a:ext cx="3515900" cy="148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9"/>
          <p:cNvPicPr preferRelativeResize="0"/>
          <p:nvPr/>
        </p:nvPicPr>
        <p:blipFill rotWithShape="1">
          <a:blip r:embed="rId5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9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40"/>
          <p:cNvGrpSpPr/>
          <p:nvPr/>
        </p:nvGrpSpPr>
        <p:grpSpPr>
          <a:xfrm>
            <a:off x="571500" y="476250"/>
            <a:ext cx="8001000" cy="952500"/>
            <a:chOff x="571500" y="476250"/>
            <a:chExt cx="8001000" cy="952500"/>
          </a:xfrm>
        </p:grpSpPr>
        <p:sp>
          <p:nvSpPr>
            <p:cNvPr id="457" name="Google Shape;457;p40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0"/>
            <p:cNvSpPr txBox="1"/>
            <p:nvPr/>
          </p:nvSpPr>
          <p:spPr>
            <a:xfrm>
              <a:off x="571500" y="66675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Demonstration</a:t>
              </a:r>
              <a:endPara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59" name="Google Shape;459;p40"/>
          <p:cNvGrpSpPr/>
          <p:nvPr/>
        </p:nvGrpSpPr>
        <p:grpSpPr>
          <a:xfrm>
            <a:off x="571501" y="1164977"/>
            <a:ext cx="7787559" cy="3408500"/>
            <a:chOff x="571500" y="1068400"/>
            <a:chExt cx="3952875" cy="3408500"/>
          </a:xfrm>
        </p:grpSpPr>
        <p:grpSp>
          <p:nvGrpSpPr>
            <p:cNvPr id="460" name="Google Shape;460;p40"/>
            <p:cNvGrpSpPr/>
            <p:nvPr/>
          </p:nvGrpSpPr>
          <p:grpSpPr>
            <a:xfrm>
              <a:off x="571500" y="1068400"/>
              <a:ext cx="1905000" cy="3408500"/>
              <a:chOff x="571500" y="1068400"/>
              <a:chExt cx="1905000" cy="3408500"/>
            </a:xfrm>
          </p:grpSpPr>
          <p:sp>
            <p:nvSpPr>
              <p:cNvPr id="461" name="Google Shape;461;p40"/>
              <p:cNvSpPr/>
              <p:nvPr/>
            </p:nvSpPr>
            <p:spPr>
              <a:xfrm>
                <a:off x="571500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40"/>
              <p:cNvSpPr txBox="1"/>
              <p:nvPr/>
            </p:nvSpPr>
            <p:spPr>
              <a:xfrm>
                <a:off x="571500" y="1068400"/>
                <a:ext cx="19050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developer_mode</a:t>
                </a: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IDE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63" name="Google Shape;463;p40"/>
            <p:cNvGrpSpPr/>
            <p:nvPr/>
          </p:nvGrpSpPr>
          <p:grpSpPr>
            <a:xfrm>
              <a:off x="2619375" y="1068406"/>
              <a:ext cx="1905000" cy="3408494"/>
              <a:chOff x="2619375" y="1068406"/>
              <a:chExt cx="1905000" cy="3408494"/>
            </a:xfrm>
          </p:grpSpPr>
          <p:sp>
            <p:nvSpPr>
              <p:cNvPr id="464" name="Google Shape;464;p40"/>
              <p:cNvSpPr/>
              <p:nvPr/>
            </p:nvSpPr>
            <p:spPr>
              <a:xfrm>
                <a:off x="2619375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40"/>
              <p:cNvSpPr txBox="1"/>
              <p:nvPr/>
            </p:nvSpPr>
            <p:spPr>
              <a:xfrm>
                <a:off x="2619375" y="1068406"/>
                <a:ext cx="19050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terminal</a:t>
                </a: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CLI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pic>
        <p:nvPicPr>
          <p:cNvPr id="466" name="Google Shape;46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850" y="1689950"/>
            <a:ext cx="3564711" cy="15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0"/>
          <p:cNvPicPr preferRelativeResize="0"/>
          <p:nvPr/>
        </p:nvPicPr>
        <p:blipFill rotWithShape="1">
          <a:blip r:embed="rId5">
            <a:alphaModFix/>
          </a:blip>
          <a:srcRect b="17748" l="0" r="0" t="8550"/>
          <a:stretch/>
        </p:blipFill>
        <p:spPr>
          <a:xfrm>
            <a:off x="658850" y="3192375"/>
            <a:ext cx="3515900" cy="167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0"/>
          <p:cNvPicPr preferRelativeResize="0"/>
          <p:nvPr/>
        </p:nvPicPr>
        <p:blipFill rotWithShape="1">
          <a:blip r:embed="rId6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0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0" name="Google Shape;470;p40"/>
          <p:cNvSpPr/>
          <p:nvPr/>
        </p:nvSpPr>
        <p:spPr>
          <a:xfrm>
            <a:off x="571500" y="3192375"/>
            <a:ext cx="3652200" cy="17640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41"/>
          <p:cNvGrpSpPr/>
          <p:nvPr/>
        </p:nvGrpSpPr>
        <p:grpSpPr>
          <a:xfrm>
            <a:off x="571500" y="476250"/>
            <a:ext cx="8001000" cy="952500"/>
            <a:chOff x="571500" y="476250"/>
            <a:chExt cx="8001000" cy="952500"/>
          </a:xfrm>
        </p:grpSpPr>
        <p:sp>
          <p:nvSpPr>
            <p:cNvPr id="476" name="Google Shape;476;p41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1"/>
            <p:cNvSpPr txBox="1"/>
            <p:nvPr/>
          </p:nvSpPr>
          <p:spPr>
            <a:xfrm>
              <a:off x="571500" y="66675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Demonstration</a:t>
              </a:r>
              <a:endPara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78" name="Google Shape;478;p41"/>
          <p:cNvGrpSpPr/>
          <p:nvPr/>
        </p:nvGrpSpPr>
        <p:grpSpPr>
          <a:xfrm>
            <a:off x="571501" y="1164977"/>
            <a:ext cx="7787559" cy="3408500"/>
            <a:chOff x="571500" y="1068400"/>
            <a:chExt cx="3952875" cy="3408500"/>
          </a:xfrm>
        </p:grpSpPr>
        <p:grpSp>
          <p:nvGrpSpPr>
            <p:cNvPr id="479" name="Google Shape;479;p41"/>
            <p:cNvGrpSpPr/>
            <p:nvPr/>
          </p:nvGrpSpPr>
          <p:grpSpPr>
            <a:xfrm>
              <a:off x="571500" y="1068400"/>
              <a:ext cx="1905000" cy="3408500"/>
              <a:chOff x="571500" y="1068400"/>
              <a:chExt cx="1905000" cy="3408500"/>
            </a:xfrm>
          </p:grpSpPr>
          <p:sp>
            <p:nvSpPr>
              <p:cNvPr id="480" name="Google Shape;480;p41"/>
              <p:cNvSpPr/>
              <p:nvPr/>
            </p:nvSpPr>
            <p:spPr>
              <a:xfrm>
                <a:off x="571500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41"/>
              <p:cNvSpPr txBox="1"/>
              <p:nvPr/>
            </p:nvSpPr>
            <p:spPr>
              <a:xfrm>
                <a:off x="571500" y="1068400"/>
                <a:ext cx="19050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developer_mode</a:t>
                </a: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IDE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82" name="Google Shape;482;p41"/>
            <p:cNvGrpSpPr/>
            <p:nvPr/>
          </p:nvGrpSpPr>
          <p:grpSpPr>
            <a:xfrm>
              <a:off x="2619375" y="1068406"/>
              <a:ext cx="1905000" cy="3408494"/>
              <a:chOff x="2619375" y="1068406"/>
              <a:chExt cx="1905000" cy="3408494"/>
            </a:xfrm>
          </p:grpSpPr>
          <p:sp>
            <p:nvSpPr>
              <p:cNvPr id="483" name="Google Shape;483;p41"/>
              <p:cNvSpPr/>
              <p:nvPr/>
            </p:nvSpPr>
            <p:spPr>
              <a:xfrm>
                <a:off x="2619375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41"/>
              <p:cNvSpPr txBox="1"/>
              <p:nvPr/>
            </p:nvSpPr>
            <p:spPr>
              <a:xfrm>
                <a:off x="2619375" y="1068406"/>
                <a:ext cx="19050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terminal</a:t>
                </a: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CLI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CCCCCC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pic>
        <p:nvPicPr>
          <p:cNvPr id="485" name="Google Shape;48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850" y="1689950"/>
            <a:ext cx="3343220" cy="14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1"/>
          <p:cNvPicPr preferRelativeResize="0"/>
          <p:nvPr/>
        </p:nvPicPr>
        <p:blipFill rotWithShape="1">
          <a:blip r:embed="rId5">
            <a:alphaModFix/>
          </a:blip>
          <a:srcRect b="17748" l="0" r="0" t="8550"/>
          <a:stretch/>
        </p:blipFill>
        <p:spPr>
          <a:xfrm>
            <a:off x="631450" y="3192375"/>
            <a:ext cx="3398026" cy="16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1"/>
          <p:cNvPicPr preferRelativeResize="0"/>
          <p:nvPr/>
        </p:nvPicPr>
        <p:blipFill rotWithShape="1">
          <a:blip r:embed="rId6">
            <a:alphaModFix/>
          </a:blip>
          <a:srcRect b="0" l="0" r="43480" t="0"/>
          <a:stretch/>
        </p:blipFill>
        <p:spPr>
          <a:xfrm>
            <a:off x="4257300" y="1896475"/>
            <a:ext cx="4653326" cy="19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1"/>
          <p:cNvPicPr preferRelativeResize="0"/>
          <p:nvPr/>
        </p:nvPicPr>
        <p:blipFill rotWithShape="1">
          <a:blip r:embed="rId7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1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0" name="Google Shape;490;p41"/>
          <p:cNvSpPr/>
          <p:nvPr/>
        </p:nvSpPr>
        <p:spPr>
          <a:xfrm>
            <a:off x="4029475" y="1807725"/>
            <a:ext cx="5001000" cy="21417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2"/>
          <p:cNvSpPr txBox="1"/>
          <p:nvPr/>
        </p:nvSpPr>
        <p:spPr>
          <a:xfrm>
            <a:off x="571500" y="6667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Equipping Agents with Context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97" name="Google Shape;497;p42"/>
          <p:cNvPicPr preferRelativeResize="0"/>
          <p:nvPr/>
        </p:nvPicPr>
        <p:blipFill rotWithShape="1">
          <a:blip r:embed="rId4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8" name="Google Shape;498;p42"/>
          <p:cNvGrpSpPr/>
          <p:nvPr/>
        </p:nvGrpSpPr>
        <p:grpSpPr>
          <a:xfrm>
            <a:off x="571500" y="1428750"/>
            <a:ext cx="3429000" cy="1428900"/>
            <a:chOff x="571500" y="1428750"/>
            <a:chExt cx="3429000" cy="1428900"/>
          </a:xfrm>
        </p:grpSpPr>
        <p:sp>
          <p:nvSpPr>
            <p:cNvPr id="499" name="Google Shape;499;p42"/>
            <p:cNvSpPr/>
            <p:nvPr/>
          </p:nvSpPr>
          <p:spPr>
            <a:xfrm>
              <a:off x="571500" y="1428750"/>
              <a:ext cx="3429000" cy="1428900"/>
            </a:xfrm>
            <a:prstGeom prst="roundRect">
              <a:avLst>
                <a:gd fmla="val 10000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2"/>
            <p:cNvSpPr txBox="1"/>
            <p:nvPr/>
          </p:nvSpPr>
          <p:spPr>
            <a:xfrm>
              <a:off x="714375" y="1524000"/>
              <a:ext cx="3143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Including Files and Assets</a:t>
              </a:r>
              <a:endParaRPr b="1" sz="16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Raleway"/>
                <a:buChar char="●"/>
              </a:pPr>
              <a:r>
                <a:rPr lang="en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Directly provide files, images, and GitHub items (Issues, PRs)</a:t>
              </a:r>
              <a:endPara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Raleway"/>
                <a:buChar char="●"/>
              </a:pPr>
              <a:r>
                <a:rPr lang="en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Offer exemplar files containing best-practice code</a:t>
              </a:r>
              <a:endPara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01" name="Google Shape;501;p42"/>
          <p:cNvGrpSpPr/>
          <p:nvPr/>
        </p:nvGrpSpPr>
        <p:grpSpPr>
          <a:xfrm>
            <a:off x="571500" y="3455643"/>
            <a:ext cx="4467038" cy="1524000"/>
            <a:chOff x="571500" y="3455643"/>
            <a:chExt cx="4467038" cy="1524000"/>
          </a:xfrm>
        </p:grpSpPr>
        <p:sp>
          <p:nvSpPr>
            <p:cNvPr id="502" name="Google Shape;502;p42"/>
            <p:cNvSpPr/>
            <p:nvPr/>
          </p:nvSpPr>
          <p:spPr>
            <a:xfrm>
              <a:off x="571500" y="3455643"/>
              <a:ext cx="3429000" cy="1524000"/>
            </a:xfrm>
            <a:prstGeom prst="roundRect">
              <a:avLst>
                <a:gd fmla="val 9375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2"/>
            <p:cNvSpPr txBox="1"/>
            <p:nvPr/>
          </p:nvSpPr>
          <p:spPr>
            <a:xfrm>
              <a:off x="642938" y="3550900"/>
              <a:ext cx="43956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Directive Documentation</a:t>
              </a:r>
              <a:endParaRPr b="1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Raleway"/>
                <a:buChar char="●"/>
              </a:pPr>
              <a:r>
                <a:rPr lang="en">
                  <a:solidFill>
                    <a:srgbClr val="CBD5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copilot-instructions.md</a:t>
              </a:r>
              <a:r>
                <a:rPr lang="en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— GitHub Copilot</a:t>
              </a:r>
              <a:endPara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Raleway"/>
                <a:buChar char="●"/>
              </a:pPr>
              <a:r>
                <a:rPr lang="en">
                  <a:solidFill>
                    <a:srgbClr val="CBD5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cursor rules</a:t>
              </a:r>
              <a:r>
                <a:rPr lang="en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— Specific to Cursor IDE</a:t>
              </a:r>
              <a:endPara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Raleway"/>
                <a:buChar char="●"/>
              </a:pPr>
              <a:r>
                <a:rPr lang="en">
                  <a:solidFill>
                    <a:srgbClr val="CBD5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claude.md</a:t>
              </a:r>
              <a:r>
                <a:rPr lang="en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— Tailored for Claude Code</a:t>
              </a:r>
              <a:endPara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Raleway"/>
                <a:buChar char="●"/>
              </a:pPr>
              <a:r>
                <a:rPr lang="en">
                  <a:solidFill>
                    <a:srgbClr val="CBD5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agents.md</a:t>
              </a:r>
              <a:r>
                <a:rPr lang="en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— The standard OpenAI format</a:t>
              </a:r>
              <a:endPara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504" name="Google Shape;504;p42"/>
          <p:cNvPicPr preferRelativeResize="0"/>
          <p:nvPr/>
        </p:nvPicPr>
        <p:blipFill rotWithShape="1">
          <a:blip r:embed="rId5">
            <a:alphaModFix/>
          </a:blip>
          <a:srcRect b="0" l="100" r="100" t="0"/>
          <a:stretch/>
        </p:blipFill>
        <p:spPr>
          <a:xfrm>
            <a:off x="3903500" y="1602500"/>
            <a:ext cx="5007000" cy="19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2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3"/>
          <p:cNvGrpSpPr/>
          <p:nvPr/>
        </p:nvGrpSpPr>
        <p:grpSpPr>
          <a:xfrm>
            <a:off x="571500" y="476250"/>
            <a:ext cx="8001000" cy="952500"/>
            <a:chOff x="571500" y="476250"/>
            <a:chExt cx="8001000" cy="952500"/>
          </a:xfrm>
        </p:grpSpPr>
        <p:sp>
          <p:nvSpPr>
            <p:cNvPr id="511" name="Google Shape;511;p43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3"/>
            <p:cNvSpPr txBox="1"/>
            <p:nvPr/>
          </p:nvSpPr>
          <p:spPr>
            <a:xfrm>
              <a:off x="571500" y="66675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Providing Tools to an Agent</a:t>
              </a:r>
              <a:endPara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513" name="Google Shape;513;p43"/>
          <p:cNvPicPr preferRelativeResize="0"/>
          <p:nvPr/>
        </p:nvPicPr>
        <p:blipFill rotWithShape="1">
          <a:blip r:embed="rId4">
            <a:alphaModFix/>
          </a:blip>
          <a:srcRect b="30" l="0" r="0" t="20"/>
          <a:stretch/>
        </p:blipFill>
        <p:spPr>
          <a:xfrm>
            <a:off x="4180625" y="1479500"/>
            <a:ext cx="4867200" cy="189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4" name="Google Shape;514;p43"/>
          <p:cNvGrpSpPr/>
          <p:nvPr/>
        </p:nvGrpSpPr>
        <p:grpSpPr>
          <a:xfrm>
            <a:off x="571521" y="1416098"/>
            <a:ext cx="3609260" cy="1754148"/>
            <a:chOff x="571500" y="1416102"/>
            <a:chExt cx="3753000" cy="1754148"/>
          </a:xfrm>
        </p:grpSpPr>
        <p:sp>
          <p:nvSpPr>
            <p:cNvPr id="515" name="Google Shape;515;p43"/>
            <p:cNvSpPr/>
            <p:nvPr/>
          </p:nvSpPr>
          <p:spPr>
            <a:xfrm>
              <a:off x="571500" y="1428750"/>
              <a:ext cx="3753000" cy="1741500"/>
            </a:xfrm>
            <a:prstGeom prst="roundRect">
              <a:avLst>
                <a:gd fmla="val 10000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16" name="Google Shape;516;p43"/>
            <p:cNvSpPr txBox="1"/>
            <p:nvPr/>
          </p:nvSpPr>
          <p:spPr>
            <a:xfrm>
              <a:off x="714375" y="1416102"/>
              <a:ext cx="3467100" cy="17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MCP — Model Context Protocol</a:t>
              </a:r>
              <a:endParaRPr b="1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Open protocol for giving agents access to tools</a:t>
              </a:r>
              <a:endParaRPr b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In IDE: search @mcp in extensions for vetted servers</a:t>
              </a:r>
              <a:endParaRPr b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Pro Tip: </a:t>
              </a:r>
              <a:r>
                <a:rPr b="0" lang="en">
                  <a:solidFill>
                    <a:srgbClr val="CBD5E1"/>
                  </a:solidFill>
                  <a:latin typeface="Raleway"/>
                  <a:ea typeface="Raleway"/>
                  <a:cs typeface="Raleway"/>
                  <a:sym typeface="Raleway"/>
                </a:rPr>
                <a:t>You can also create your own MCP servers</a:t>
              </a:r>
              <a:endParaRPr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17" name="Google Shape;517;p43"/>
          <p:cNvGrpSpPr/>
          <p:nvPr/>
        </p:nvGrpSpPr>
        <p:grpSpPr>
          <a:xfrm>
            <a:off x="571500" y="3275801"/>
            <a:ext cx="3753000" cy="1428900"/>
            <a:chOff x="571500" y="3275801"/>
            <a:chExt cx="3753000" cy="1428900"/>
          </a:xfrm>
        </p:grpSpPr>
        <p:sp>
          <p:nvSpPr>
            <p:cNvPr id="518" name="Google Shape;518;p43"/>
            <p:cNvSpPr/>
            <p:nvPr/>
          </p:nvSpPr>
          <p:spPr>
            <a:xfrm>
              <a:off x="571500" y="3275801"/>
              <a:ext cx="3753000" cy="1428900"/>
            </a:xfrm>
            <a:prstGeom prst="roundRect">
              <a:avLst>
                <a:gd fmla="val 10000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3"/>
            <p:cNvSpPr txBox="1"/>
            <p:nvPr/>
          </p:nvSpPr>
          <p:spPr>
            <a:xfrm>
              <a:off x="714375" y="3359061"/>
              <a:ext cx="34671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Agent Skills</a:t>
              </a:r>
              <a:endParaRPr b="1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 reusable workflow defined in a </a:t>
              </a:r>
              <a:r>
                <a:rPr lang="en">
                  <a:solidFill>
                    <a:srgbClr val="FFFFFF"/>
                  </a:solidFill>
                  <a:highlight>
                    <a:srgbClr val="334155"/>
                  </a:highlight>
                  <a:latin typeface="Raleway"/>
                  <a:ea typeface="Raleway"/>
                  <a:cs typeface="Raleway"/>
                  <a:sym typeface="Raleway"/>
                </a:rPr>
                <a:t>SKILL.MD</a:t>
              </a:r>
              <a:r>
                <a:rPr lang="en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file</a:t>
              </a:r>
              <a:endPara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Skills can include tools, MCP servers, scripts, and more!</a:t>
              </a:r>
              <a:endPara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520" name="Google Shape;520;p43"/>
          <p:cNvPicPr preferRelativeResize="0"/>
          <p:nvPr/>
        </p:nvPicPr>
        <p:blipFill rotWithShape="1">
          <a:blip r:embed="rId5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3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44"/>
          <p:cNvGrpSpPr/>
          <p:nvPr/>
        </p:nvGrpSpPr>
        <p:grpSpPr>
          <a:xfrm>
            <a:off x="571500" y="476250"/>
            <a:ext cx="8001000" cy="952500"/>
            <a:chOff x="571500" y="476250"/>
            <a:chExt cx="8001000" cy="952500"/>
          </a:xfrm>
        </p:grpSpPr>
        <p:sp>
          <p:nvSpPr>
            <p:cNvPr id="527" name="Google Shape;527;p44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4"/>
            <p:cNvSpPr txBox="1"/>
            <p:nvPr/>
          </p:nvSpPr>
          <p:spPr>
            <a:xfrm>
              <a:off x="571500" y="66675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Resources</a:t>
              </a:r>
              <a:endPara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529" name="Google Shape;529;p44"/>
          <p:cNvPicPr preferRelativeResize="0"/>
          <p:nvPr/>
        </p:nvPicPr>
        <p:blipFill rotWithShape="1">
          <a:blip r:embed="rId4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4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31" name="Google Shape;531;p44"/>
          <p:cNvGrpSpPr/>
          <p:nvPr/>
        </p:nvGrpSpPr>
        <p:grpSpPr>
          <a:xfrm>
            <a:off x="571500" y="1164975"/>
            <a:ext cx="7787560" cy="3465300"/>
            <a:chOff x="571499" y="1068397"/>
            <a:chExt cx="3952876" cy="3465300"/>
          </a:xfrm>
        </p:grpSpPr>
        <p:sp>
          <p:nvSpPr>
            <p:cNvPr id="532" name="Google Shape;532;p44"/>
            <p:cNvSpPr/>
            <p:nvPr/>
          </p:nvSpPr>
          <p:spPr>
            <a:xfrm>
              <a:off x="2619375" y="1524000"/>
              <a:ext cx="1905000" cy="2952900"/>
            </a:xfrm>
            <a:prstGeom prst="roundRect">
              <a:avLst>
                <a:gd fmla="val 6000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3" name="Google Shape;533;p44"/>
            <p:cNvGrpSpPr/>
            <p:nvPr/>
          </p:nvGrpSpPr>
          <p:grpSpPr>
            <a:xfrm>
              <a:off x="571499" y="1068397"/>
              <a:ext cx="1905001" cy="3465300"/>
              <a:chOff x="571499" y="1068397"/>
              <a:chExt cx="1905001" cy="3465300"/>
            </a:xfrm>
          </p:grpSpPr>
          <p:sp>
            <p:nvSpPr>
              <p:cNvPr id="534" name="Google Shape;534;p44"/>
              <p:cNvSpPr/>
              <p:nvPr/>
            </p:nvSpPr>
            <p:spPr>
              <a:xfrm>
                <a:off x="571500" y="1524000"/>
                <a:ext cx="1905000" cy="2952900"/>
              </a:xfrm>
              <a:prstGeom prst="roundRect">
                <a:avLst>
                  <a:gd fmla="val 6000" name="adj"/>
                </a:avLst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44"/>
              <p:cNvSpPr txBox="1"/>
              <p:nvPr/>
            </p:nvSpPr>
            <p:spPr>
              <a:xfrm>
                <a:off x="571499" y="1068397"/>
                <a:ext cx="1905000" cy="346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1A99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developer_mode</a:t>
                </a:r>
                <a:r>
                  <a:rPr b="1" lang="en" sz="14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IDE (V</a:t>
                </a:r>
                <a:r>
                  <a:rPr b="1" lang="en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S Code)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1115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chemeClr val="lt1"/>
                  </a:buClr>
                  <a:buSzPts val="1300"/>
                  <a:buFont typeface="Lato"/>
                  <a:buChar char="●"/>
                </a:pPr>
                <a:r>
                  <a:rPr lang="en" sz="13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VS Code Installation</a:t>
                </a:r>
                <a:endParaRPr sz="13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300" u="sng">
                    <a:solidFill>
                      <a:schemeClr val="hlink"/>
                    </a:solidFill>
                    <a:latin typeface="Lato"/>
                    <a:ea typeface="Lato"/>
                    <a:cs typeface="Lato"/>
                    <a:sym typeface="Lato"/>
                    <a:hlinkClick r:id="rId5"/>
                  </a:rPr>
                  <a:t>https://code.visualstudio.com/download</a:t>
                </a:r>
                <a:endParaRPr sz="13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111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chemeClr val="lt1"/>
                  </a:buClr>
                  <a:buSzPts val="1300"/>
                  <a:buFont typeface="Lato"/>
                  <a:buChar char="●"/>
                </a:pPr>
                <a:r>
                  <a:rPr lang="en" sz="13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Copilot Installation from VS Code extension</a:t>
                </a:r>
                <a:endParaRPr sz="13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300" u="sng">
                    <a:solidFill>
                      <a:schemeClr val="hlink"/>
                    </a:solidFill>
                    <a:latin typeface="Lato"/>
                    <a:ea typeface="Lato"/>
                    <a:cs typeface="Lato"/>
                    <a:sym typeface="Lato"/>
                    <a:hlinkClick r:id="rId6"/>
                  </a:rPr>
                  <a:t>https://www.youtube.com/watch?v=ws6t0NBle9g</a:t>
                </a:r>
                <a:endParaRPr sz="13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111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chemeClr val="lt1"/>
                  </a:buClr>
                  <a:buSzPts val="1300"/>
                  <a:buFont typeface="Lato"/>
                  <a:buChar char="●"/>
                </a:pPr>
                <a:r>
                  <a:rPr lang="en" sz="13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Launching Copilot for free (please you need to have a github account)</a:t>
                </a:r>
                <a:endParaRPr sz="13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300" u="sng">
                    <a:solidFill>
                      <a:schemeClr val="hlink"/>
                    </a:solidFill>
                    <a:latin typeface="Lato"/>
                    <a:ea typeface="Lato"/>
                    <a:cs typeface="Lato"/>
                    <a:sym typeface="Lato"/>
                    <a:hlinkClick r:id="rId7"/>
                  </a:rPr>
                  <a:t>https://www.youtube.com/watch?v=X_Aet9ndh_Y</a:t>
                </a:r>
                <a:endParaRPr sz="13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-3302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Lato"/>
                  <a:buChar char="●"/>
                </a:pPr>
                <a:r>
                  <a:rPr lang="en" sz="16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VS Code Installation</a:t>
                </a:r>
                <a:endParaRPr sz="16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45720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536" name="Google Shape;536;p44"/>
          <p:cNvSpPr txBox="1"/>
          <p:nvPr/>
        </p:nvSpPr>
        <p:spPr>
          <a:xfrm>
            <a:off x="4606050" y="1252675"/>
            <a:ext cx="37530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developer_mode</a:t>
            </a:r>
            <a:r>
              <a:rPr b="1" lang="en"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IDE ( Antigravity)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1125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Google Agent IDE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Installation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8"/>
              </a:rPr>
              <a:t>https://antigravity.google/download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You need to have gmail account to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sign in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and start using the agent for free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6B8A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6B8A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41;p45"/>
          <p:cNvGrpSpPr/>
          <p:nvPr/>
        </p:nvGrpSpPr>
        <p:grpSpPr>
          <a:xfrm>
            <a:off x="571500" y="476250"/>
            <a:ext cx="8001000" cy="952500"/>
            <a:chOff x="571500" y="476250"/>
            <a:chExt cx="8001000" cy="952500"/>
          </a:xfrm>
        </p:grpSpPr>
        <p:sp>
          <p:nvSpPr>
            <p:cNvPr id="542" name="Google Shape;542;p45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5"/>
            <p:cNvSpPr txBox="1"/>
            <p:nvPr/>
          </p:nvSpPr>
          <p:spPr>
            <a:xfrm>
              <a:off x="571500" y="66675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Resources</a:t>
              </a:r>
              <a:endPara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44" name="Google Shape;544;p45"/>
          <p:cNvGrpSpPr/>
          <p:nvPr/>
        </p:nvGrpSpPr>
        <p:grpSpPr>
          <a:xfrm>
            <a:off x="571501" y="1294383"/>
            <a:ext cx="3797834" cy="3279094"/>
            <a:chOff x="571500" y="1197806"/>
            <a:chExt cx="1927737" cy="3279094"/>
          </a:xfrm>
        </p:grpSpPr>
        <p:sp>
          <p:nvSpPr>
            <p:cNvPr id="545" name="Google Shape;545;p45"/>
            <p:cNvSpPr/>
            <p:nvPr/>
          </p:nvSpPr>
          <p:spPr>
            <a:xfrm>
              <a:off x="571500" y="1524000"/>
              <a:ext cx="1905000" cy="2952900"/>
            </a:xfrm>
            <a:prstGeom prst="roundRect">
              <a:avLst>
                <a:gd fmla="val 6000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5"/>
            <p:cNvSpPr txBox="1"/>
            <p:nvPr/>
          </p:nvSpPr>
          <p:spPr>
            <a:xfrm>
              <a:off x="594237" y="1197806"/>
              <a:ext cx="19050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r>
                <a:rPr b="1" lang="en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CLI (Copilot)</a:t>
              </a:r>
              <a:endParaRPr b="1"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Lato"/>
                <a:buChar char="●"/>
              </a:pPr>
              <a:r>
                <a:rPr lang="en" sz="13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Installation </a:t>
              </a:r>
              <a:r>
                <a:rPr lang="en" sz="13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npm (requires Node.js 22+)</a:t>
              </a:r>
              <a:endParaRPr b="1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u="sng">
                  <a:solidFill>
                    <a:schemeClr val="hlink"/>
                  </a:solidFill>
                  <a:latin typeface="Lato"/>
                  <a:ea typeface="Lato"/>
                  <a:cs typeface="Lato"/>
                  <a:sym typeface="Lato"/>
                  <a:hlinkClick r:id="rId4"/>
                </a:rPr>
                <a:t>https://www.youtube.com/watch?v=BDxRhhs36ns</a:t>
              </a:r>
              <a:endParaRPr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Lato"/>
                <a:buChar char="●"/>
              </a:pPr>
              <a:r>
                <a:rPr lang="en" sz="13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Installation on windows via (</a:t>
              </a:r>
              <a:r>
                <a:rPr lang="en" sz="13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WinGet)</a:t>
              </a:r>
              <a:endParaRPr b="1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u="sng">
                  <a:solidFill>
                    <a:schemeClr val="hlink"/>
                  </a:solidFill>
                  <a:latin typeface="Lato"/>
                  <a:ea typeface="Lato"/>
                  <a:cs typeface="Lato"/>
                  <a:sym typeface="Lato"/>
                  <a:hlinkClick r:id="rId5"/>
                </a:rPr>
                <a:t>https://www.youtube.com/watch?v=3mCaZ_tYdI0</a:t>
              </a:r>
              <a:endParaRPr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45720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45720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547" name="Google Shape;547;p45"/>
          <p:cNvPicPr preferRelativeResize="0"/>
          <p:nvPr/>
        </p:nvPicPr>
        <p:blipFill rotWithShape="1">
          <a:blip r:embed="rId6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5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</a:t>
            </a: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led by </a:t>
            </a:r>
            <a:r>
              <a:rPr lang="en" sz="1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Awwal Badru </a:t>
            </a:r>
            <a:endParaRPr b="0"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9" name="Google Shape;549;p45"/>
          <p:cNvSpPr txBox="1"/>
          <p:nvPr/>
        </p:nvSpPr>
        <p:spPr>
          <a:xfrm>
            <a:off x="4661370" y="1360533"/>
            <a:ext cx="37530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terminal</a:t>
            </a:r>
            <a:r>
              <a:rPr b="1" lang="en"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CLI (Copilot)</a:t>
            </a:r>
            <a:endParaRPr b="1" sz="1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Install commands: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Windows (WinGet): winget install GitHub.Copilot</a:t>
            </a:r>
            <a:endParaRPr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npm (requires Node.js 22+): npm install -g @github/copilot</a:t>
            </a:r>
            <a:endParaRPr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macOS / Linux: brew install copilot-cli</a:t>
            </a:r>
            <a:endParaRPr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CCCCC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high-tech, cinematic close-up of holographic code floating in a dark server room with blue and orange ambient lighting, representing advanced AI agentic coding." id="554" name="Google Shape;554;p46"/>
          <p:cNvPicPr preferRelativeResize="0"/>
          <p:nvPr/>
        </p:nvPicPr>
        <p:blipFill rotWithShape="1">
          <a:blip r:embed="rId3">
            <a:alphaModFix/>
          </a:blip>
          <a:srcRect b="0" l="5556" r="5556" t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6" name="Google Shape;556;p46"/>
          <p:cNvGrpSpPr/>
          <p:nvPr/>
        </p:nvGrpSpPr>
        <p:grpSpPr>
          <a:xfrm>
            <a:off x="571500" y="952500"/>
            <a:ext cx="1143000" cy="38100"/>
            <a:chOff x="571500" y="952500"/>
            <a:chExt cx="1143000" cy="38100"/>
          </a:xfrm>
        </p:grpSpPr>
        <p:sp>
          <p:nvSpPr>
            <p:cNvPr id="557" name="Google Shape;557;p46"/>
            <p:cNvSpPr/>
            <p:nvPr/>
          </p:nvSpPr>
          <p:spPr>
            <a:xfrm>
              <a:off x="571500" y="952500"/>
              <a:ext cx="762000" cy="381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6"/>
            <p:cNvSpPr/>
            <p:nvPr/>
          </p:nvSpPr>
          <p:spPr>
            <a:xfrm>
              <a:off x="1333500" y="952500"/>
              <a:ext cx="381000" cy="381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9" name="Google Shape;559;p46"/>
          <p:cNvSpPr txBox="1"/>
          <p:nvPr>
            <p:ph type="ctrTitle"/>
          </p:nvPr>
        </p:nvSpPr>
        <p:spPr>
          <a:xfrm>
            <a:off x="452800" y="990600"/>
            <a:ext cx="4000500" cy="163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1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Beyond the Syntax: Mastering Agentic Coding</a:t>
            </a:r>
            <a:endParaRPr b="1" sz="341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60" name="Google Shape;560;p46"/>
          <p:cNvSpPr txBox="1"/>
          <p:nvPr>
            <p:ph idx="1" type="subTitle"/>
          </p:nvPr>
        </p:nvSpPr>
        <p:spPr>
          <a:xfrm>
            <a:off x="452800" y="2739525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A9988"/>
                </a:solidFill>
                <a:latin typeface="Lato"/>
                <a:ea typeface="Lato"/>
                <a:cs typeface="Lato"/>
                <a:sym typeface="Lato"/>
              </a:rPr>
              <a:t>The Future of Software Engineering</a:t>
            </a:r>
            <a:endParaRPr b="1" sz="1600">
              <a:solidFill>
                <a:srgbClr val="1A998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" name="Google Shape;561;p46"/>
          <p:cNvSpPr txBox="1"/>
          <p:nvPr>
            <p:ph idx="1" type="subTitle"/>
          </p:nvPr>
        </p:nvSpPr>
        <p:spPr>
          <a:xfrm>
            <a:off x="424673" y="3155548"/>
            <a:ext cx="5051100" cy="190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3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Awwal Badru</a:t>
            </a:r>
            <a:endParaRPr b="1" sz="183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n" sz="115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rPr>
              <a:t>PhD Candidate &amp; MS, CS (United States) | M.Sc CS (Australia) </a:t>
            </a:r>
            <a:endParaRPr b="0" i="1" sz="1150">
              <a:solidFill>
                <a:srgbClr val="CCCCC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1" lang="en" sz="115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rPr>
              <a:t>| B.Ed  CS/Maths (Nigeria)</a:t>
            </a:r>
            <a:endParaRPr b="0" i="1" sz="1150">
              <a:solidFill>
                <a:srgbClr val="CCCCC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35">
                <a:solidFill>
                  <a:srgbClr val="1A9988"/>
                </a:solidFill>
                <a:latin typeface="Lato"/>
                <a:ea typeface="Lato"/>
                <a:cs typeface="Lato"/>
                <a:sym typeface="Lato"/>
              </a:rPr>
              <a:t>Research Areas:</a:t>
            </a:r>
            <a:endParaRPr b="1" sz="1235">
              <a:solidFill>
                <a:srgbClr val="1A9988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0" marL="45720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Lato"/>
              <a:buNone/>
            </a:pPr>
            <a:r>
              <a:rPr b="0" lang="en" sz="11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Empirical Software Engineering</a:t>
            </a:r>
            <a:endParaRPr b="0" sz="11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0" marL="4572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Lato"/>
              <a:buNone/>
            </a:pPr>
            <a:r>
              <a:rPr b="0" lang="en" sz="11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Software </a:t>
            </a:r>
            <a:r>
              <a:rPr lang="en" sz="1150">
                <a:solidFill>
                  <a:schemeClr val="lt1"/>
                </a:solidFill>
              </a:rPr>
              <a:t>Security </a:t>
            </a:r>
            <a:endParaRPr b="0" sz="11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0" marL="4572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Lato"/>
              <a:buNone/>
            </a:pPr>
            <a:r>
              <a:rPr b="0" lang="en" sz="11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Software Engineering Education</a:t>
            </a:r>
            <a:endParaRPr b="0" sz="11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0" marL="4572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Lato"/>
              <a:buNone/>
            </a:pPr>
            <a:r>
              <a:rPr b="0" lang="en" sz="11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Computer Science Education</a:t>
            </a:r>
            <a:endParaRPr b="0" sz="11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62" name="Google Shape;562;p46"/>
          <p:cNvPicPr preferRelativeResize="0"/>
          <p:nvPr/>
        </p:nvPicPr>
        <p:blipFill rotWithShape="1">
          <a:blip r:embed="rId5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46"/>
          <p:cNvPicPr preferRelativeResize="0"/>
          <p:nvPr/>
        </p:nvPicPr>
        <p:blipFill rotWithShape="1">
          <a:blip r:embed="rId6">
            <a:alphaModFix/>
          </a:blip>
          <a:srcRect b="30" l="0" r="0" t="40"/>
          <a:stretch/>
        </p:blipFill>
        <p:spPr>
          <a:xfrm>
            <a:off x="7065425" y="4052450"/>
            <a:ext cx="2078577" cy="1091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Google Shape;568;p47"/>
          <p:cNvGrpSpPr/>
          <p:nvPr/>
        </p:nvGrpSpPr>
        <p:grpSpPr>
          <a:xfrm>
            <a:off x="571500" y="476250"/>
            <a:ext cx="8001000" cy="762000"/>
            <a:chOff x="571500" y="476250"/>
            <a:chExt cx="8001000" cy="762000"/>
          </a:xfrm>
        </p:grpSpPr>
        <p:sp>
          <p:nvSpPr>
            <p:cNvPr id="569" name="Google Shape;569;p47"/>
            <p:cNvSpPr/>
            <p:nvPr/>
          </p:nvSpPr>
          <p:spPr>
            <a:xfrm>
              <a:off x="571500" y="476250"/>
              <a:ext cx="11430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7"/>
            <p:cNvSpPr txBox="1"/>
            <p:nvPr/>
          </p:nvSpPr>
          <p:spPr>
            <a:xfrm>
              <a:off x="571500" y="66675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Workshop Outline</a:t>
              </a:r>
              <a:endParaRPr b="1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71" name="Google Shape;571;p47"/>
          <p:cNvGrpSpPr/>
          <p:nvPr/>
        </p:nvGrpSpPr>
        <p:grpSpPr>
          <a:xfrm>
            <a:off x="571500" y="1428750"/>
            <a:ext cx="3905400" cy="3238500"/>
            <a:chOff x="571500" y="1428750"/>
            <a:chExt cx="3905400" cy="3238500"/>
          </a:xfrm>
        </p:grpSpPr>
        <p:sp>
          <p:nvSpPr>
            <p:cNvPr id="572" name="Google Shape;572;p47"/>
            <p:cNvSpPr/>
            <p:nvPr/>
          </p:nvSpPr>
          <p:spPr>
            <a:xfrm>
              <a:off x="571500" y="142875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7"/>
            <p:cNvSpPr txBox="1"/>
            <p:nvPr/>
          </p:nvSpPr>
          <p:spPr>
            <a:xfrm>
              <a:off x="762000" y="1619250"/>
              <a:ext cx="3524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rPr>
                <a:t>DAY 1: Foundations &amp; Demo</a:t>
              </a:r>
              <a:endParaRPr b="1" sz="2000">
                <a:solidFill>
                  <a:srgbClr val="E6B8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rPr>
                <a:t>•The Evolution of AI &amp; Coding</a:t>
              </a:r>
              <a:endParaRPr sz="1400">
                <a:solidFill>
                  <a:srgbClr val="E6B8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rPr>
                <a:t>•Coding Agents &amp; Agentic Loop</a:t>
              </a:r>
              <a:endParaRPr sz="1400">
                <a:solidFill>
                  <a:srgbClr val="E6B8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rPr>
                <a:t>•Demo: Context, Action &amp; Verification</a:t>
              </a:r>
              <a:endParaRPr sz="1400">
                <a:solidFill>
                  <a:srgbClr val="E6B8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rPr>
                <a:t>•IDE Setup and Resources</a:t>
              </a:r>
              <a:endParaRPr sz="1400">
                <a:solidFill>
                  <a:srgbClr val="E6B8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6B8AF"/>
                  </a:solidFill>
                  <a:latin typeface="Lato"/>
                  <a:ea typeface="Lato"/>
                  <a:cs typeface="Lato"/>
                  <a:sym typeface="Lato"/>
                </a:rPr>
                <a:t>•Interactive Q &amp; A</a:t>
              </a:r>
              <a:endParaRPr sz="1400">
                <a:solidFill>
                  <a:srgbClr val="E6B8A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74" name="Google Shape;574;p47"/>
          <p:cNvGrpSpPr/>
          <p:nvPr/>
        </p:nvGrpSpPr>
        <p:grpSpPr>
          <a:xfrm>
            <a:off x="4667250" y="1428750"/>
            <a:ext cx="3905400" cy="3238500"/>
            <a:chOff x="4667250" y="1428750"/>
            <a:chExt cx="3905400" cy="3238500"/>
          </a:xfrm>
        </p:grpSpPr>
        <p:sp>
          <p:nvSpPr>
            <p:cNvPr id="575" name="Google Shape;575;p47"/>
            <p:cNvSpPr/>
            <p:nvPr/>
          </p:nvSpPr>
          <p:spPr>
            <a:xfrm>
              <a:off x="4667250" y="142875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7"/>
            <p:cNvSpPr txBox="1"/>
            <p:nvPr/>
          </p:nvSpPr>
          <p:spPr>
            <a:xfrm>
              <a:off x="4857750" y="1619250"/>
              <a:ext cx="3524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DAY 2: Practical Application</a:t>
              </a:r>
              <a:endParaRPr b="1" sz="2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Software Development Life Cycle</a:t>
              </a:r>
              <a:endParaRPr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Hands-on Building with Agents</a:t>
              </a:r>
              <a:endParaRPr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" sz="14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Git Versioning &amp; Collaboration</a:t>
              </a:r>
              <a:endParaRPr sz="1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577" name="Google Shape;577;p47"/>
          <p:cNvPicPr preferRelativeResize="0"/>
          <p:nvPr/>
        </p:nvPicPr>
        <p:blipFill rotWithShape="1">
          <a:blip r:embed="rId3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8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SDLC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3" name="Google Shape;583;p48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4" name="Google Shape;584;p48"/>
          <p:cNvPicPr preferRelativeResize="0"/>
          <p:nvPr/>
        </p:nvPicPr>
        <p:blipFill rotWithShape="1">
          <a:blip r:embed="rId3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8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led by Awwal Badru</a:t>
            </a:r>
            <a:endParaRPr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86" name="Google Shape;586;p48"/>
          <p:cNvGrpSpPr/>
          <p:nvPr/>
        </p:nvGrpSpPr>
        <p:grpSpPr>
          <a:xfrm>
            <a:off x="571500" y="1381125"/>
            <a:ext cx="8001000" cy="3238500"/>
            <a:chOff x="571500" y="1381125"/>
            <a:chExt cx="8001000" cy="3238500"/>
          </a:xfrm>
        </p:grpSpPr>
        <p:sp>
          <p:nvSpPr>
            <p:cNvPr id="587" name="Google Shape;587;p48"/>
            <p:cNvSpPr/>
            <p:nvPr/>
          </p:nvSpPr>
          <p:spPr>
            <a:xfrm>
              <a:off x="571500" y="1381125"/>
              <a:ext cx="8001000" cy="3238500"/>
            </a:xfrm>
            <a:prstGeom prst="roundRect">
              <a:avLst>
                <a:gd fmla="val 5882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8"/>
            <p:cNvSpPr txBox="1"/>
            <p:nvPr/>
          </p:nvSpPr>
          <p:spPr>
            <a:xfrm>
              <a:off x="762000" y="1476375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The 7 Phases of SDLC</a:t>
              </a:r>
              <a:endParaRPr b="1" sz="18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589" name="Google Shape;589;p48"/>
            <p:cNvGrpSpPr/>
            <p:nvPr/>
          </p:nvGrpSpPr>
          <p:grpSpPr>
            <a:xfrm>
              <a:off x="762000" y="2000250"/>
              <a:ext cx="2381400" cy="762000"/>
              <a:chOff x="762000" y="2000250"/>
              <a:chExt cx="2381400" cy="762000"/>
            </a:xfrm>
          </p:grpSpPr>
          <p:sp>
            <p:nvSpPr>
              <p:cNvPr id="590" name="Google Shape;590;p48"/>
              <p:cNvSpPr/>
              <p:nvPr/>
            </p:nvSpPr>
            <p:spPr>
              <a:xfrm>
                <a:off x="76200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48"/>
              <p:cNvSpPr txBox="1"/>
              <p:nvPr/>
            </p:nvSpPr>
            <p:spPr>
              <a:xfrm>
                <a:off x="90487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1. Planning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Define scope, costs, and identify risks.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9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SDLC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7" name="Google Shape;597;p49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8" name="Google Shape;598;p49"/>
          <p:cNvGrpSpPr/>
          <p:nvPr/>
        </p:nvGrpSpPr>
        <p:grpSpPr>
          <a:xfrm>
            <a:off x="571500" y="1381125"/>
            <a:ext cx="8001000" cy="3238500"/>
            <a:chOff x="571500" y="1381125"/>
            <a:chExt cx="8001000" cy="3238500"/>
          </a:xfrm>
        </p:grpSpPr>
        <p:sp>
          <p:nvSpPr>
            <p:cNvPr id="599" name="Google Shape;599;p49"/>
            <p:cNvSpPr/>
            <p:nvPr/>
          </p:nvSpPr>
          <p:spPr>
            <a:xfrm>
              <a:off x="571500" y="1381125"/>
              <a:ext cx="8001000" cy="3238500"/>
            </a:xfrm>
            <a:prstGeom prst="roundRect">
              <a:avLst>
                <a:gd fmla="val 5882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9"/>
            <p:cNvSpPr txBox="1"/>
            <p:nvPr/>
          </p:nvSpPr>
          <p:spPr>
            <a:xfrm>
              <a:off x="762000" y="1476375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The 7 Phases of SDLC</a:t>
              </a:r>
              <a:endParaRPr b="1" sz="18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601" name="Google Shape;601;p49"/>
            <p:cNvGrpSpPr/>
            <p:nvPr/>
          </p:nvGrpSpPr>
          <p:grpSpPr>
            <a:xfrm>
              <a:off x="762000" y="2000250"/>
              <a:ext cx="2381400" cy="762000"/>
              <a:chOff x="762000" y="2000250"/>
              <a:chExt cx="2381400" cy="762000"/>
            </a:xfrm>
          </p:grpSpPr>
          <p:sp>
            <p:nvSpPr>
              <p:cNvPr id="602" name="Google Shape;602;p49"/>
              <p:cNvSpPr/>
              <p:nvPr/>
            </p:nvSpPr>
            <p:spPr>
              <a:xfrm>
                <a:off x="76200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49"/>
              <p:cNvSpPr txBox="1"/>
              <p:nvPr/>
            </p:nvSpPr>
            <p:spPr>
              <a:xfrm>
                <a:off x="90487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1. Planning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Define scope, costs, and identify risks.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604" name="Google Shape;604;p49"/>
            <p:cNvGrpSpPr/>
            <p:nvPr/>
          </p:nvGrpSpPr>
          <p:grpSpPr>
            <a:xfrm>
              <a:off x="3381375" y="2000250"/>
              <a:ext cx="2381400" cy="762000"/>
              <a:chOff x="3381375" y="2000250"/>
              <a:chExt cx="2381400" cy="762000"/>
            </a:xfrm>
          </p:grpSpPr>
          <p:sp>
            <p:nvSpPr>
              <p:cNvPr id="605" name="Google Shape;605;p49"/>
              <p:cNvSpPr/>
              <p:nvPr/>
            </p:nvSpPr>
            <p:spPr>
              <a:xfrm>
                <a:off x="3381375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49"/>
              <p:cNvSpPr txBox="1"/>
              <p:nvPr/>
            </p:nvSpPr>
            <p:spPr>
              <a:xfrm>
                <a:off x="3524250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2. Requirements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Gather needs from stakeholders (the "what").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pic>
        <p:nvPicPr>
          <p:cNvPr id="607" name="Google Shape;607;p49"/>
          <p:cNvPicPr preferRelativeResize="0"/>
          <p:nvPr/>
        </p:nvPicPr>
        <p:blipFill rotWithShape="1">
          <a:blip r:embed="rId3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9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led by Awwal Badru</a:t>
            </a:r>
            <a:endParaRPr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" name="Google Shape;609;p49"/>
          <p:cNvSpPr/>
          <p:nvPr/>
        </p:nvSpPr>
        <p:spPr>
          <a:xfrm>
            <a:off x="3252450" y="1887162"/>
            <a:ext cx="2639100" cy="10311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0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SDLC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5" name="Google Shape;615;p50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6" name="Google Shape;616;p50"/>
          <p:cNvGrpSpPr/>
          <p:nvPr/>
        </p:nvGrpSpPr>
        <p:grpSpPr>
          <a:xfrm>
            <a:off x="571500" y="1381125"/>
            <a:ext cx="8001000" cy="3238500"/>
            <a:chOff x="571500" y="1381125"/>
            <a:chExt cx="8001000" cy="3238500"/>
          </a:xfrm>
        </p:grpSpPr>
        <p:sp>
          <p:nvSpPr>
            <p:cNvPr id="617" name="Google Shape;617;p50"/>
            <p:cNvSpPr/>
            <p:nvPr/>
          </p:nvSpPr>
          <p:spPr>
            <a:xfrm>
              <a:off x="571500" y="1381125"/>
              <a:ext cx="8001000" cy="3238500"/>
            </a:xfrm>
            <a:prstGeom prst="roundRect">
              <a:avLst>
                <a:gd fmla="val 5882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50"/>
            <p:cNvSpPr txBox="1"/>
            <p:nvPr/>
          </p:nvSpPr>
          <p:spPr>
            <a:xfrm>
              <a:off x="762000" y="1476375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The 7 Phases of SDLC</a:t>
              </a:r>
              <a:endParaRPr b="1" sz="18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619" name="Google Shape;619;p50"/>
            <p:cNvGrpSpPr/>
            <p:nvPr/>
          </p:nvGrpSpPr>
          <p:grpSpPr>
            <a:xfrm>
              <a:off x="762000" y="2000250"/>
              <a:ext cx="2381400" cy="762000"/>
              <a:chOff x="762000" y="2000250"/>
              <a:chExt cx="2381400" cy="762000"/>
            </a:xfrm>
          </p:grpSpPr>
          <p:sp>
            <p:nvSpPr>
              <p:cNvPr id="620" name="Google Shape;620;p50"/>
              <p:cNvSpPr/>
              <p:nvPr/>
            </p:nvSpPr>
            <p:spPr>
              <a:xfrm>
                <a:off x="76200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50"/>
              <p:cNvSpPr txBox="1"/>
              <p:nvPr/>
            </p:nvSpPr>
            <p:spPr>
              <a:xfrm>
                <a:off x="90487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1. Planning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Define scope, costs, and identify risks.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622" name="Google Shape;622;p50"/>
            <p:cNvGrpSpPr/>
            <p:nvPr/>
          </p:nvGrpSpPr>
          <p:grpSpPr>
            <a:xfrm>
              <a:off x="3381375" y="2000250"/>
              <a:ext cx="2381400" cy="762000"/>
              <a:chOff x="3381375" y="2000250"/>
              <a:chExt cx="2381400" cy="762000"/>
            </a:xfrm>
          </p:grpSpPr>
          <p:sp>
            <p:nvSpPr>
              <p:cNvPr id="623" name="Google Shape;623;p50"/>
              <p:cNvSpPr/>
              <p:nvPr/>
            </p:nvSpPr>
            <p:spPr>
              <a:xfrm>
                <a:off x="3381375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50"/>
              <p:cNvSpPr txBox="1"/>
              <p:nvPr/>
            </p:nvSpPr>
            <p:spPr>
              <a:xfrm>
                <a:off x="3524250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2. Requirements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Gather needs from stakeholders (the "what").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625" name="Google Shape;625;p50"/>
            <p:cNvGrpSpPr/>
            <p:nvPr/>
          </p:nvGrpSpPr>
          <p:grpSpPr>
            <a:xfrm>
              <a:off x="6000750" y="2000250"/>
              <a:ext cx="2381400" cy="762000"/>
              <a:chOff x="6000750" y="2000250"/>
              <a:chExt cx="2381400" cy="762000"/>
            </a:xfrm>
          </p:grpSpPr>
          <p:sp>
            <p:nvSpPr>
              <p:cNvPr id="626" name="Google Shape;626;p50"/>
              <p:cNvSpPr/>
              <p:nvPr/>
            </p:nvSpPr>
            <p:spPr>
              <a:xfrm>
                <a:off x="600075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50"/>
              <p:cNvSpPr txBox="1"/>
              <p:nvPr/>
            </p:nvSpPr>
            <p:spPr>
              <a:xfrm>
                <a:off x="614362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3. Design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Architecture, UI/UX, and data models.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pic>
        <p:nvPicPr>
          <p:cNvPr id="628" name="Google Shape;628;p50"/>
          <p:cNvPicPr preferRelativeResize="0"/>
          <p:nvPr/>
        </p:nvPicPr>
        <p:blipFill rotWithShape="1">
          <a:blip r:embed="rId3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50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led by Awwal Badru</a:t>
            </a:r>
            <a:endParaRPr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0" name="Google Shape;630;p50"/>
          <p:cNvSpPr/>
          <p:nvPr/>
        </p:nvSpPr>
        <p:spPr>
          <a:xfrm>
            <a:off x="5885442" y="1875162"/>
            <a:ext cx="2639100" cy="10311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1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SDLC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36" name="Google Shape;636;p51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7" name="Google Shape;637;p51"/>
          <p:cNvGrpSpPr/>
          <p:nvPr/>
        </p:nvGrpSpPr>
        <p:grpSpPr>
          <a:xfrm>
            <a:off x="571500" y="1381125"/>
            <a:ext cx="8001000" cy="3238500"/>
            <a:chOff x="571500" y="1381125"/>
            <a:chExt cx="8001000" cy="3238500"/>
          </a:xfrm>
        </p:grpSpPr>
        <p:sp>
          <p:nvSpPr>
            <p:cNvPr id="638" name="Google Shape;638;p51"/>
            <p:cNvSpPr/>
            <p:nvPr/>
          </p:nvSpPr>
          <p:spPr>
            <a:xfrm>
              <a:off x="571500" y="1381125"/>
              <a:ext cx="8001000" cy="3238500"/>
            </a:xfrm>
            <a:prstGeom prst="roundRect">
              <a:avLst>
                <a:gd fmla="val 5882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51"/>
            <p:cNvSpPr txBox="1"/>
            <p:nvPr/>
          </p:nvSpPr>
          <p:spPr>
            <a:xfrm>
              <a:off x="762000" y="1476375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The 7 Phases of SDLC</a:t>
              </a:r>
              <a:endParaRPr b="1" sz="18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640" name="Google Shape;640;p51"/>
            <p:cNvGrpSpPr/>
            <p:nvPr/>
          </p:nvGrpSpPr>
          <p:grpSpPr>
            <a:xfrm>
              <a:off x="762000" y="2000250"/>
              <a:ext cx="2381400" cy="762000"/>
              <a:chOff x="762000" y="2000250"/>
              <a:chExt cx="2381400" cy="762000"/>
            </a:xfrm>
          </p:grpSpPr>
          <p:sp>
            <p:nvSpPr>
              <p:cNvPr id="641" name="Google Shape;641;p51"/>
              <p:cNvSpPr/>
              <p:nvPr/>
            </p:nvSpPr>
            <p:spPr>
              <a:xfrm>
                <a:off x="76200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51"/>
              <p:cNvSpPr txBox="1"/>
              <p:nvPr/>
            </p:nvSpPr>
            <p:spPr>
              <a:xfrm>
                <a:off x="90487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1. Planning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Define scope, costs, and identify risks.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643" name="Google Shape;643;p51"/>
            <p:cNvGrpSpPr/>
            <p:nvPr/>
          </p:nvGrpSpPr>
          <p:grpSpPr>
            <a:xfrm>
              <a:off x="3381375" y="2000250"/>
              <a:ext cx="2381400" cy="762000"/>
              <a:chOff x="3381375" y="2000250"/>
              <a:chExt cx="2381400" cy="762000"/>
            </a:xfrm>
          </p:grpSpPr>
          <p:sp>
            <p:nvSpPr>
              <p:cNvPr id="644" name="Google Shape;644;p51"/>
              <p:cNvSpPr/>
              <p:nvPr/>
            </p:nvSpPr>
            <p:spPr>
              <a:xfrm>
                <a:off x="3381375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51"/>
              <p:cNvSpPr txBox="1"/>
              <p:nvPr/>
            </p:nvSpPr>
            <p:spPr>
              <a:xfrm>
                <a:off x="3524250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2. Requirements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Gather needs from stakeholders (the "what").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646" name="Google Shape;646;p51"/>
            <p:cNvGrpSpPr/>
            <p:nvPr/>
          </p:nvGrpSpPr>
          <p:grpSpPr>
            <a:xfrm>
              <a:off x="6000750" y="2000250"/>
              <a:ext cx="2381400" cy="762000"/>
              <a:chOff x="6000750" y="2000250"/>
              <a:chExt cx="2381400" cy="762000"/>
            </a:xfrm>
          </p:grpSpPr>
          <p:sp>
            <p:nvSpPr>
              <p:cNvPr id="647" name="Google Shape;647;p51"/>
              <p:cNvSpPr/>
              <p:nvPr/>
            </p:nvSpPr>
            <p:spPr>
              <a:xfrm>
                <a:off x="600075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51"/>
              <p:cNvSpPr txBox="1"/>
              <p:nvPr/>
            </p:nvSpPr>
            <p:spPr>
              <a:xfrm>
                <a:off x="614362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3. Design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Architecture, UI/UX, and data models.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649" name="Google Shape;649;p51"/>
            <p:cNvGrpSpPr/>
            <p:nvPr/>
          </p:nvGrpSpPr>
          <p:grpSpPr>
            <a:xfrm>
              <a:off x="762000" y="2905125"/>
              <a:ext cx="2381400" cy="762000"/>
              <a:chOff x="762000" y="2905125"/>
              <a:chExt cx="2381400" cy="762000"/>
            </a:xfrm>
          </p:grpSpPr>
          <p:sp>
            <p:nvSpPr>
              <p:cNvPr id="650" name="Google Shape;650;p51"/>
              <p:cNvSpPr/>
              <p:nvPr/>
            </p:nvSpPr>
            <p:spPr>
              <a:xfrm>
                <a:off x="762000" y="2905125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51"/>
              <p:cNvSpPr txBox="1"/>
              <p:nvPr/>
            </p:nvSpPr>
            <p:spPr>
              <a:xfrm>
                <a:off x="904875" y="295275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4. Implementation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The actual writing of the source code.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pic>
        <p:nvPicPr>
          <p:cNvPr id="652" name="Google Shape;652;p51"/>
          <p:cNvPicPr preferRelativeResize="0"/>
          <p:nvPr/>
        </p:nvPicPr>
        <p:blipFill rotWithShape="1">
          <a:blip r:embed="rId3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51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led by Awwal Badru</a:t>
            </a:r>
            <a:endParaRPr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4" name="Google Shape;654;p51"/>
          <p:cNvSpPr/>
          <p:nvPr/>
        </p:nvSpPr>
        <p:spPr>
          <a:xfrm>
            <a:off x="698675" y="2834325"/>
            <a:ext cx="2493000" cy="9231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2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SDLC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60" name="Google Shape;660;p52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1" name="Google Shape;661;p52"/>
          <p:cNvGrpSpPr/>
          <p:nvPr/>
        </p:nvGrpSpPr>
        <p:grpSpPr>
          <a:xfrm>
            <a:off x="571500" y="1381125"/>
            <a:ext cx="8001000" cy="3238500"/>
            <a:chOff x="571500" y="1381125"/>
            <a:chExt cx="8001000" cy="3238500"/>
          </a:xfrm>
        </p:grpSpPr>
        <p:sp>
          <p:nvSpPr>
            <p:cNvPr id="662" name="Google Shape;662;p52"/>
            <p:cNvSpPr/>
            <p:nvPr/>
          </p:nvSpPr>
          <p:spPr>
            <a:xfrm>
              <a:off x="571500" y="1381125"/>
              <a:ext cx="8001000" cy="3238500"/>
            </a:xfrm>
            <a:prstGeom prst="roundRect">
              <a:avLst>
                <a:gd fmla="val 5882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52"/>
            <p:cNvSpPr txBox="1"/>
            <p:nvPr/>
          </p:nvSpPr>
          <p:spPr>
            <a:xfrm>
              <a:off x="762000" y="1476375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The 7 Phases of SDLC</a:t>
              </a:r>
              <a:endParaRPr b="1" sz="18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664" name="Google Shape;664;p52"/>
            <p:cNvGrpSpPr/>
            <p:nvPr/>
          </p:nvGrpSpPr>
          <p:grpSpPr>
            <a:xfrm>
              <a:off x="762000" y="2000250"/>
              <a:ext cx="2381400" cy="762000"/>
              <a:chOff x="762000" y="2000250"/>
              <a:chExt cx="2381400" cy="762000"/>
            </a:xfrm>
          </p:grpSpPr>
          <p:sp>
            <p:nvSpPr>
              <p:cNvPr id="665" name="Google Shape;665;p52"/>
              <p:cNvSpPr/>
              <p:nvPr/>
            </p:nvSpPr>
            <p:spPr>
              <a:xfrm>
                <a:off x="76200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52"/>
              <p:cNvSpPr txBox="1"/>
              <p:nvPr/>
            </p:nvSpPr>
            <p:spPr>
              <a:xfrm>
                <a:off x="90487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1. Planning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Define scope, costs, and identify risks.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667" name="Google Shape;667;p52"/>
            <p:cNvGrpSpPr/>
            <p:nvPr/>
          </p:nvGrpSpPr>
          <p:grpSpPr>
            <a:xfrm>
              <a:off x="3381375" y="2000250"/>
              <a:ext cx="2381400" cy="762000"/>
              <a:chOff x="3381375" y="2000250"/>
              <a:chExt cx="2381400" cy="762000"/>
            </a:xfrm>
          </p:grpSpPr>
          <p:sp>
            <p:nvSpPr>
              <p:cNvPr id="668" name="Google Shape;668;p52"/>
              <p:cNvSpPr/>
              <p:nvPr/>
            </p:nvSpPr>
            <p:spPr>
              <a:xfrm>
                <a:off x="3381375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52"/>
              <p:cNvSpPr txBox="1"/>
              <p:nvPr/>
            </p:nvSpPr>
            <p:spPr>
              <a:xfrm>
                <a:off x="3524250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2. Requirements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Gather needs from stakeholders (the "what").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670" name="Google Shape;670;p52"/>
            <p:cNvGrpSpPr/>
            <p:nvPr/>
          </p:nvGrpSpPr>
          <p:grpSpPr>
            <a:xfrm>
              <a:off x="6000750" y="2000250"/>
              <a:ext cx="2381400" cy="762000"/>
              <a:chOff x="6000750" y="2000250"/>
              <a:chExt cx="2381400" cy="762000"/>
            </a:xfrm>
          </p:grpSpPr>
          <p:sp>
            <p:nvSpPr>
              <p:cNvPr id="671" name="Google Shape;671;p52"/>
              <p:cNvSpPr/>
              <p:nvPr/>
            </p:nvSpPr>
            <p:spPr>
              <a:xfrm>
                <a:off x="600075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52"/>
              <p:cNvSpPr txBox="1"/>
              <p:nvPr/>
            </p:nvSpPr>
            <p:spPr>
              <a:xfrm>
                <a:off x="614362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3. Design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Architecture, UI/UX, and data models.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673" name="Google Shape;673;p52"/>
            <p:cNvGrpSpPr/>
            <p:nvPr/>
          </p:nvGrpSpPr>
          <p:grpSpPr>
            <a:xfrm>
              <a:off x="762000" y="2905125"/>
              <a:ext cx="2381400" cy="762000"/>
              <a:chOff x="762000" y="2905125"/>
              <a:chExt cx="2381400" cy="762000"/>
            </a:xfrm>
          </p:grpSpPr>
          <p:sp>
            <p:nvSpPr>
              <p:cNvPr id="674" name="Google Shape;674;p52"/>
              <p:cNvSpPr/>
              <p:nvPr/>
            </p:nvSpPr>
            <p:spPr>
              <a:xfrm>
                <a:off x="762000" y="2905125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52"/>
              <p:cNvSpPr txBox="1"/>
              <p:nvPr/>
            </p:nvSpPr>
            <p:spPr>
              <a:xfrm>
                <a:off x="904875" y="295275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4. Implementation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The actual writing of the source code.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676" name="Google Shape;676;p52"/>
            <p:cNvGrpSpPr/>
            <p:nvPr/>
          </p:nvGrpSpPr>
          <p:grpSpPr>
            <a:xfrm>
              <a:off x="3381375" y="2905125"/>
              <a:ext cx="2381400" cy="762000"/>
              <a:chOff x="3381375" y="2905125"/>
              <a:chExt cx="2381400" cy="762000"/>
            </a:xfrm>
          </p:grpSpPr>
          <p:sp>
            <p:nvSpPr>
              <p:cNvPr id="677" name="Google Shape;677;p52"/>
              <p:cNvSpPr/>
              <p:nvPr/>
            </p:nvSpPr>
            <p:spPr>
              <a:xfrm>
                <a:off x="3381375" y="2905125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52"/>
              <p:cNvSpPr txBox="1"/>
              <p:nvPr/>
            </p:nvSpPr>
            <p:spPr>
              <a:xfrm>
                <a:off x="3524250" y="295275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5. Testing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Verify software for bugs and requirements.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pic>
        <p:nvPicPr>
          <p:cNvPr id="679" name="Google Shape;679;p52"/>
          <p:cNvPicPr preferRelativeResize="0"/>
          <p:nvPr/>
        </p:nvPicPr>
        <p:blipFill rotWithShape="1">
          <a:blip r:embed="rId3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2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led by Awwal Badru</a:t>
            </a:r>
            <a:endParaRPr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81" name="Google Shape;681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50" y="3219450"/>
            <a:ext cx="238200" cy="1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662725" y="2846325"/>
            <a:ext cx="5406300" cy="10311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3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SDLC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8" name="Google Shape;688;p53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9" name="Google Shape;689;p53"/>
          <p:cNvGrpSpPr/>
          <p:nvPr/>
        </p:nvGrpSpPr>
        <p:grpSpPr>
          <a:xfrm>
            <a:off x="571500" y="1381125"/>
            <a:ext cx="8001000" cy="3238500"/>
            <a:chOff x="571500" y="1381125"/>
            <a:chExt cx="8001000" cy="3238500"/>
          </a:xfrm>
        </p:grpSpPr>
        <p:sp>
          <p:nvSpPr>
            <p:cNvPr id="690" name="Google Shape;690;p53"/>
            <p:cNvSpPr/>
            <p:nvPr/>
          </p:nvSpPr>
          <p:spPr>
            <a:xfrm>
              <a:off x="571500" y="1381125"/>
              <a:ext cx="8001000" cy="3238500"/>
            </a:xfrm>
            <a:prstGeom prst="roundRect">
              <a:avLst>
                <a:gd fmla="val 5882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53"/>
            <p:cNvSpPr txBox="1"/>
            <p:nvPr/>
          </p:nvSpPr>
          <p:spPr>
            <a:xfrm>
              <a:off x="762000" y="1476375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The 7 Phases of SDLC</a:t>
              </a:r>
              <a:endParaRPr b="1" sz="18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692" name="Google Shape;692;p53"/>
            <p:cNvGrpSpPr/>
            <p:nvPr/>
          </p:nvGrpSpPr>
          <p:grpSpPr>
            <a:xfrm>
              <a:off x="762000" y="2000250"/>
              <a:ext cx="2381400" cy="762000"/>
              <a:chOff x="762000" y="2000250"/>
              <a:chExt cx="2381400" cy="762000"/>
            </a:xfrm>
          </p:grpSpPr>
          <p:sp>
            <p:nvSpPr>
              <p:cNvPr id="693" name="Google Shape;693;p53"/>
              <p:cNvSpPr/>
              <p:nvPr/>
            </p:nvSpPr>
            <p:spPr>
              <a:xfrm>
                <a:off x="76200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53"/>
              <p:cNvSpPr txBox="1"/>
              <p:nvPr/>
            </p:nvSpPr>
            <p:spPr>
              <a:xfrm>
                <a:off x="90487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1. Planning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Define scope, costs, and identify risks.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695" name="Google Shape;695;p53"/>
            <p:cNvGrpSpPr/>
            <p:nvPr/>
          </p:nvGrpSpPr>
          <p:grpSpPr>
            <a:xfrm>
              <a:off x="3381375" y="2000250"/>
              <a:ext cx="2381400" cy="762000"/>
              <a:chOff x="3381375" y="2000250"/>
              <a:chExt cx="2381400" cy="762000"/>
            </a:xfrm>
          </p:grpSpPr>
          <p:sp>
            <p:nvSpPr>
              <p:cNvPr id="696" name="Google Shape;696;p53"/>
              <p:cNvSpPr/>
              <p:nvPr/>
            </p:nvSpPr>
            <p:spPr>
              <a:xfrm>
                <a:off x="3381375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53"/>
              <p:cNvSpPr txBox="1"/>
              <p:nvPr/>
            </p:nvSpPr>
            <p:spPr>
              <a:xfrm>
                <a:off x="3524250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2. Requirements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Gather needs from stakeholders (the "what").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698" name="Google Shape;698;p53"/>
            <p:cNvGrpSpPr/>
            <p:nvPr/>
          </p:nvGrpSpPr>
          <p:grpSpPr>
            <a:xfrm>
              <a:off x="6000750" y="2000250"/>
              <a:ext cx="2381400" cy="762000"/>
              <a:chOff x="6000750" y="2000250"/>
              <a:chExt cx="2381400" cy="762000"/>
            </a:xfrm>
          </p:grpSpPr>
          <p:sp>
            <p:nvSpPr>
              <p:cNvPr id="699" name="Google Shape;699;p53"/>
              <p:cNvSpPr/>
              <p:nvPr/>
            </p:nvSpPr>
            <p:spPr>
              <a:xfrm>
                <a:off x="600075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53"/>
              <p:cNvSpPr txBox="1"/>
              <p:nvPr/>
            </p:nvSpPr>
            <p:spPr>
              <a:xfrm>
                <a:off x="614362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3. Design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Architecture, UI/UX, and data models.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701" name="Google Shape;701;p53"/>
            <p:cNvGrpSpPr/>
            <p:nvPr/>
          </p:nvGrpSpPr>
          <p:grpSpPr>
            <a:xfrm>
              <a:off x="762000" y="2905125"/>
              <a:ext cx="2381400" cy="762000"/>
              <a:chOff x="762000" y="2905125"/>
              <a:chExt cx="2381400" cy="762000"/>
            </a:xfrm>
          </p:grpSpPr>
          <p:sp>
            <p:nvSpPr>
              <p:cNvPr id="702" name="Google Shape;702;p53"/>
              <p:cNvSpPr/>
              <p:nvPr/>
            </p:nvSpPr>
            <p:spPr>
              <a:xfrm>
                <a:off x="762000" y="2905125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53"/>
              <p:cNvSpPr txBox="1"/>
              <p:nvPr/>
            </p:nvSpPr>
            <p:spPr>
              <a:xfrm>
                <a:off x="904875" y="295275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4. Implementation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The actual writing of the source code.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704" name="Google Shape;704;p53"/>
            <p:cNvGrpSpPr/>
            <p:nvPr/>
          </p:nvGrpSpPr>
          <p:grpSpPr>
            <a:xfrm>
              <a:off x="3381375" y="2905125"/>
              <a:ext cx="2381400" cy="762000"/>
              <a:chOff x="3381375" y="2905125"/>
              <a:chExt cx="2381400" cy="762000"/>
            </a:xfrm>
          </p:grpSpPr>
          <p:sp>
            <p:nvSpPr>
              <p:cNvPr id="705" name="Google Shape;705;p53"/>
              <p:cNvSpPr/>
              <p:nvPr/>
            </p:nvSpPr>
            <p:spPr>
              <a:xfrm>
                <a:off x="3381375" y="2905125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53"/>
              <p:cNvSpPr txBox="1"/>
              <p:nvPr/>
            </p:nvSpPr>
            <p:spPr>
              <a:xfrm>
                <a:off x="3524250" y="295275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5. Testing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Verify software for bugs and requirements.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707" name="Google Shape;707;p53"/>
            <p:cNvGrpSpPr/>
            <p:nvPr/>
          </p:nvGrpSpPr>
          <p:grpSpPr>
            <a:xfrm>
              <a:off x="6000750" y="2905125"/>
              <a:ext cx="2381400" cy="762000"/>
              <a:chOff x="6000750" y="2905125"/>
              <a:chExt cx="2381400" cy="762000"/>
            </a:xfrm>
          </p:grpSpPr>
          <p:sp>
            <p:nvSpPr>
              <p:cNvPr id="708" name="Google Shape;708;p53"/>
              <p:cNvSpPr/>
              <p:nvPr/>
            </p:nvSpPr>
            <p:spPr>
              <a:xfrm>
                <a:off x="6000750" y="2905125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53"/>
              <p:cNvSpPr txBox="1"/>
              <p:nvPr/>
            </p:nvSpPr>
            <p:spPr>
              <a:xfrm>
                <a:off x="6143625" y="295275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6. Deployment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Release to production environment.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pic>
        <p:nvPicPr>
          <p:cNvPr id="710" name="Google Shape;710;p53"/>
          <p:cNvPicPr preferRelativeResize="0"/>
          <p:nvPr/>
        </p:nvPicPr>
        <p:blipFill rotWithShape="1">
          <a:blip r:embed="rId3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3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led by Awwal Badru</a:t>
            </a:r>
            <a:endParaRPr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12" name="Google Shape;712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50" y="3219450"/>
            <a:ext cx="238200" cy="1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53"/>
          <p:cNvSpPr/>
          <p:nvPr/>
        </p:nvSpPr>
        <p:spPr>
          <a:xfrm>
            <a:off x="5866150" y="2822337"/>
            <a:ext cx="2639100" cy="10311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4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SDLC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19" name="Google Shape;719;p54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0" name="Google Shape;720;p54"/>
          <p:cNvGrpSpPr/>
          <p:nvPr/>
        </p:nvGrpSpPr>
        <p:grpSpPr>
          <a:xfrm>
            <a:off x="571500" y="1381125"/>
            <a:ext cx="8001000" cy="3238500"/>
            <a:chOff x="571500" y="1381125"/>
            <a:chExt cx="8001000" cy="3238500"/>
          </a:xfrm>
        </p:grpSpPr>
        <p:sp>
          <p:nvSpPr>
            <p:cNvPr id="721" name="Google Shape;721;p54"/>
            <p:cNvSpPr/>
            <p:nvPr/>
          </p:nvSpPr>
          <p:spPr>
            <a:xfrm>
              <a:off x="571500" y="1381125"/>
              <a:ext cx="8001000" cy="3238500"/>
            </a:xfrm>
            <a:prstGeom prst="roundRect">
              <a:avLst>
                <a:gd fmla="val 5882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54"/>
            <p:cNvSpPr txBox="1"/>
            <p:nvPr/>
          </p:nvSpPr>
          <p:spPr>
            <a:xfrm>
              <a:off x="762000" y="1476375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The 7 Phases of SDLC</a:t>
              </a:r>
              <a:endParaRPr b="1" sz="18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723" name="Google Shape;723;p54"/>
            <p:cNvGrpSpPr/>
            <p:nvPr/>
          </p:nvGrpSpPr>
          <p:grpSpPr>
            <a:xfrm>
              <a:off x="762000" y="2000250"/>
              <a:ext cx="2381400" cy="762000"/>
              <a:chOff x="762000" y="2000250"/>
              <a:chExt cx="2381400" cy="762000"/>
            </a:xfrm>
          </p:grpSpPr>
          <p:sp>
            <p:nvSpPr>
              <p:cNvPr id="724" name="Google Shape;724;p54"/>
              <p:cNvSpPr/>
              <p:nvPr/>
            </p:nvSpPr>
            <p:spPr>
              <a:xfrm>
                <a:off x="76200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54"/>
              <p:cNvSpPr txBox="1"/>
              <p:nvPr/>
            </p:nvSpPr>
            <p:spPr>
              <a:xfrm>
                <a:off x="90487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1. Planning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Define scope, costs, and identify risks.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726" name="Google Shape;726;p54"/>
            <p:cNvGrpSpPr/>
            <p:nvPr/>
          </p:nvGrpSpPr>
          <p:grpSpPr>
            <a:xfrm>
              <a:off x="3381375" y="2000250"/>
              <a:ext cx="2381400" cy="762000"/>
              <a:chOff x="3381375" y="2000250"/>
              <a:chExt cx="2381400" cy="762000"/>
            </a:xfrm>
          </p:grpSpPr>
          <p:sp>
            <p:nvSpPr>
              <p:cNvPr id="727" name="Google Shape;727;p54"/>
              <p:cNvSpPr/>
              <p:nvPr/>
            </p:nvSpPr>
            <p:spPr>
              <a:xfrm>
                <a:off x="3381375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54"/>
              <p:cNvSpPr txBox="1"/>
              <p:nvPr/>
            </p:nvSpPr>
            <p:spPr>
              <a:xfrm>
                <a:off x="3524250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2. Requirements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Gather needs from stakeholders (the "what").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729" name="Google Shape;729;p54"/>
            <p:cNvGrpSpPr/>
            <p:nvPr/>
          </p:nvGrpSpPr>
          <p:grpSpPr>
            <a:xfrm>
              <a:off x="6000750" y="2000250"/>
              <a:ext cx="2381400" cy="762000"/>
              <a:chOff x="6000750" y="2000250"/>
              <a:chExt cx="2381400" cy="762000"/>
            </a:xfrm>
          </p:grpSpPr>
          <p:sp>
            <p:nvSpPr>
              <p:cNvPr id="730" name="Google Shape;730;p54"/>
              <p:cNvSpPr/>
              <p:nvPr/>
            </p:nvSpPr>
            <p:spPr>
              <a:xfrm>
                <a:off x="600075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54"/>
              <p:cNvSpPr txBox="1"/>
              <p:nvPr/>
            </p:nvSpPr>
            <p:spPr>
              <a:xfrm>
                <a:off x="614362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3. Design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Architecture, UI/UX, and data models.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732" name="Google Shape;732;p54"/>
            <p:cNvGrpSpPr/>
            <p:nvPr/>
          </p:nvGrpSpPr>
          <p:grpSpPr>
            <a:xfrm>
              <a:off x="762000" y="2905125"/>
              <a:ext cx="2381400" cy="762000"/>
              <a:chOff x="762000" y="2905125"/>
              <a:chExt cx="2381400" cy="762000"/>
            </a:xfrm>
          </p:grpSpPr>
          <p:sp>
            <p:nvSpPr>
              <p:cNvPr id="733" name="Google Shape;733;p54"/>
              <p:cNvSpPr/>
              <p:nvPr/>
            </p:nvSpPr>
            <p:spPr>
              <a:xfrm>
                <a:off x="762000" y="2905125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54"/>
              <p:cNvSpPr txBox="1"/>
              <p:nvPr/>
            </p:nvSpPr>
            <p:spPr>
              <a:xfrm>
                <a:off x="904875" y="295275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4. Implementation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The actual writing of the source code.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735" name="Google Shape;735;p54"/>
            <p:cNvGrpSpPr/>
            <p:nvPr/>
          </p:nvGrpSpPr>
          <p:grpSpPr>
            <a:xfrm>
              <a:off x="3381375" y="2905125"/>
              <a:ext cx="2381400" cy="762000"/>
              <a:chOff x="3381375" y="2905125"/>
              <a:chExt cx="2381400" cy="762000"/>
            </a:xfrm>
          </p:grpSpPr>
          <p:sp>
            <p:nvSpPr>
              <p:cNvPr id="736" name="Google Shape;736;p54"/>
              <p:cNvSpPr/>
              <p:nvPr/>
            </p:nvSpPr>
            <p:spPr>
              <a:xfrm>
                <a:off x="3381375" y="2905125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54"/>
              <p:cNvSpPr txBox="1"/>
              <p:nvPr/>
            </p:nvSpPr>
            <p:spPr>
              <a:xfrm>
                <a:off x="3524250" y="295275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5. Testing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Verify software for bugs and requirements.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738" name="Google Shape;738;p54"/>
            <p:cNvGrpSpPr/>
            <p:nvPr/>
          </p:nvGrpSpPr>
          <p:grpSpPr>
            <a:xfrm>
              <a:off x="6000750" y="2905125"/>
              <a:ext cx="2381400" cy="762000"/>
              <a:chOff x="6000750" y="2905125"/>
              <a:chExt cx="2381400" cy="762000"/>
            </a:xfrm>
          </p:grpSpPr>
          <p:sp>
            <p:nvSpPr>
              <p:cNvPr id="739" name="Google Shape;739;p54"/>
              <p:cNvSpPr/>
              <p:nvPr/>
            </p:nvSpPr>
            <p:spPr>
              <a:xfrm>
                <a:off x="6000750" y="2905125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54"/>
              <p:cNvSpPr txBox="1"/>
              <p:nvPr/>
            </p:nvSpPr>
            <p:spPr>
              <a:xfrm>
                <a:off x="6143625" y="295275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6. Deployment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Release to production environment.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741" name="Google Shape;741;p54"/>
            <p:cNvGrpSpPr/>
            <p:nvPr/>
          </p:nvGrpSpPr>
          <p:grpSpPr>
            <a:xfrm>
              <a:off x="3381375" y="3810000"/>
              <a:ext cx="2381400" cy="714300"/>
              <a:chOff x="3381375" y="3810000"/>
              <a:chExt cx="2381400" cy="714300"/>
            </a:xfrm>
          </p:grpSpPr>
          <p:sp>
            <p:nvSpPr>
              <p:cNvPr id="742" name="Google Shape;742;p54"/>
              <p:cNvSpPr/>
              <p:nvPr/>
            </p:nvSpPr>
            <p:spPr>
              <a:xfrm>
                <a:off x="3381375" y="3810000"/>
                <a:ext cx="2381400" cy="714300"/>
              </a:xfrm>
              <a:prstGeom prst="roundRect">
                <a:avLst>
                  <a:gd fmla="val 13333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54"/>
              <p:cNvSpPr txBox="1"/>
              <p:nvPr/>
            </p:nvSpPr>
            <p:spPr>
              <a:xfrm>
                <a:off x="3524250" y="3857625"/>
                <a:ext cx="2095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7. Maintenance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Fix issues, update, and monitor.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pic>
        <p:nvPicPr>
          <p:cNvPr id="744" name="Google Shape;744;p54"/>
          <p:cNvPicPr preferRelativeResize="0"/>
          <p:nvPr/>
        </p:nvPicPr>
        <p:blipFill rotWithShape="1">
          <a:blip r:embed="rId3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54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led by Awwal Badru</a:t>
            </a:r>
            <a:endParaRPr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46" name="Google Shape;746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50" y="3219450"/>
            <a:ext cx="238200" cy="1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54"/>
          <p:cNvSpPr/>
          <p:nvPr/>
        </p:nvSpPr>
        <p:spPr>
          <a:xfrm>
            <a:off x="3252450" y="3721552"/>
            <a:ext cx="2639100" cy="8982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5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Hands-on Learning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53" name="Google Shape;753;p55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4" name="Google Shape;754;p55"/>
          <p:cNvPicPr preferRelativeResize="0"/>
          <p:nvPr/>
        </p:nvPicPr>
        <p:blipFill rotWithShape="1">
          <a:blip r:embed="rId3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55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led by Awwal Badru</a:t>
            </a:r>
            <a:endParaRPr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6" name="Google Shape;756;p55"/>
          <p:cNvSpPr txBox="1"/>
          <p:nvPr/>
        </p:nvSpPr>
        <p:spPr>
          <a:xfrm>
            <a:off x="916950" y="2571750"/>
            <a:ext cx="7776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chemeClr val="lt1"/>
                </a:solidFill>
              </a:rPr>
              <a:t>https://stitch.withgoogle.com/</a:t>
            </a:r>
            <a:endParaRPr sz="4600">
              <a:solidFill>
                <a:schemeClr val="lt1"/>
              </a:solidFill>
            </a:endParaRPr>
          </a:p>
        </p:txBody>
      </p:sp>
      <p:sp>
        <p:nvSpPr>
          <p:cNvPr id="757" name="Google Shape;757;p55"/>
          <p:cNvSpPr txBox="1"/>
          <p:nvPr/>
        </p:nvSpPr>
        <p:spPr>
          <a:xfrm>
            <a:off x="764925" y="2032950"/>
            <a:ext cx="482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800"/>
              <a:buFont typeface="Lato"/>
              <a:buChar char="●"/>
            </a:pPr>
            <a:r>
              <a:rPr lang="en" sz="2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UX/UI </a:t>
            </a:r>
            <a:endParaRPr sz="2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6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Hands-on Learning</a:t>
            </a:r>
            <a:endParaRPr b="1" sz="3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63" name="Google Shape;763;p56"/>
          <p:cNvSpPr/>
          <p:nvPr/>
        </p:nvSpPr>
        <p:spPr>
          <a:xfrm>
            <a:off x="571500" y="476250"/>
            <a:ext cx="1143000" cy="381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4" name="Google Shape;764;p56"/>
          <p:cNvPicPr preferRelativeResize="0"/>
          <p:nvPr/>
        </p:nvPicPr>
        <p:blipFill rotWithShape="1">
          <a:blip r:embed="rId3">
            <a:alphaModFix/>
          </a:blip>
          <a:srcRect b="17082" l="0" r="0" t="17089"/>
          <a:stretch/>
        </p:blipFill>
        <p:spPr>
          <a:xfrm>
            <a:off x="7793183" y="7"/>
            <a:ext cx="1340749" cy="4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56"/>
          <p:cNvSpPr txBox="1"/>
          <p:nvPr/>
        </p:nvSpPr>
        <p:spPr>
          <a:xfrm>
            <a:off x="571500" y="4810125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Beyond the Syntax: Mastering Agentic Coding led by Awwal Badru</a:t>
            </a:r>
            <a:endParaRPr sz="1000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66" name="Google Shape;766;p56"/>
          <p:cNvGrpSpPr/>
          <p:nvPr/>
        </p:nvGrpSpPr>
        <p:grpSpPr>
          <a:xfrm>
            <a:off x="571500" y="1381125"/>
            <a:ext cx="8001000" cy="3238500"/>
            <a:chOff x="571500" y="1381125"/>
            <a:chExt cx="8001000" cy="3238500"/>
          </a:xfrm>
        </p:grpSpPr>
        <p:sp>
          <p:nvSpPr>
            <p:cNvPr id="767" name="Google Shape;767;p56"/>
            <p:cNvSpPr/>
            <p:nvPr/>
          </p:nvSpPr>
          <p:spPr>
            <a:xfrm>
              <a:off x="571500" y="1381125"/>
              <a:ext cx="8001000" cy="3238500"/>
            </a:xfrm>
            <a:prstGeom prst="roundRect">
              <a:avLst>
                <a:gd fmla="val 5882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56"/>
            <p:cNvSpPr txBox="1"/>
            <p:nvPr/>
          </p:nvSpPr>
          <p:spPr>
            <a:xfrm>
              <a:off x="762000" y="1476375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What are app are you building?</a:t>
              </a:r>
              <a:endParaRPr b="1" sz="18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769" name="Google Shape;769;p56"/>
            <p:cNvGrpSpPr/>
            <p:nvPr/>
          </p:nvGrpSpPr>
          <p:grpSpPr>
            <a:xfrm>
              <a:off x="762000" y="2000250"/>
              <a:ext cx="2381400" cy="762000"/>
              <a:chOff x="762000" y="2000250"/>
              <a:chExt cx="2381400" cy="762000"/>
            </a:xfrm>
          </p:grpSpPr>
          <p:sp>
            <p:nvSpPr>
              <p:cNvPr id="770" name="Google Shape;770;p56"/>
              <p:cNvSpPr/>
              <p:nvPr/>
            </p:nvSpPr>
            <p:spPr>
              <a:xfrm>
                <a:off x="76200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56"/>
              <p:cNvSpPr txBox="1"/>
              <p:nvPr/>
            </p:nvSpPr>
            <p:spPr>
              <a:xfrm>
                <a:off x="90487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1. Planning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Define scope, costs, and identify risks.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772" name="Google Shape;772;p56"/>
            <p:cNvGrpSpPr/>
            <p:nvPr/>
          </p:nvGrpSpPr>
          <p:grpSpPr>
            <a:xfrm>
              <a:off x="3381375" y="2000250"/>
              <a:ext cx="2381400" cy="762000"/>
              <a:chOff x="3381375" y="2000250"/>
              <a:chExt cx="2381400" cy="762000"/>
            </a:xfrm>
          </p:grpSpPr>
          <p:sp>
            <p:nvSpPr>
              <p:cNvPr id="773" name="Google Shape;773;p56"/>
              <p:cNvSpPr/>
              <p:nvPr/>
            </p:nvSpPr>
            <p:spPr>
              <a:xfrm>
                <a:off x="3381375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56"/>
              <p:cNvSpPr txBox="1"/>
              <p:nvPr/>
            </p:nvSpPr>
            <p:spPr>
              <a:xfrm>
                <a:off x="3524250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2. Requirements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Gather needs from stakeholders (the "what").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775" name="Google Shape;775;p56"/>
            <p:cNvGrpSpPr/>
            <p:nvPr/>
          </p:nvGrpSpPr>
          <p:grpSpPr>
            <a:xfrm>
              <a:off x="6000750" y="2000250"/>
              <a:ext cx="2381400" cy="762000"/>
              <a:chOff x="6000750" y="2000250"/>
              <a:chExt cx="2381400" cy="762000"/>
            </a:xfrm>
          </p:grpSpPr>
          <p:sp>
            <p:nvSpPr>
              <p:cNvPr id="776" name="Google Shape;776;p56"/>
              <p:cNvSpPr/>
              <p:nvPr/>
            </p:nvSpPr>
            <p:spPr>
              <a:xfrm>
                <a:off x="6000750" y="2000250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56"/>
              <p:cNvSpPr txBox="1"/>
              <p:nvPr/>
            </p:nvSpPr>
            <p:spPr>
              <a:xfrm>
                <a:off x="6143625" y="2047875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3. Design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Architecture, UI/UX, and data models.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778" name="Google Shape;778;p56"/>
            <p:cNvGrpSpPr/>
            <p:nvPr/>
          </p:nvGrpSpPr>
          <p:grpSpPr>
            <a:xfrm>
              <a:off x="762000" y="2905125"/>
              <a:ext cx="2381400" cy="762000"/>
              <a:chOff x="762000" y="2905125"/>
              <a:chExt cx="2381400" cy="762000"/>
            </a:xfrm>
          </p:grpSpPr>
          <p:sp>
            <p:nvSpPr>
              <p:cNvPr id="779" name="Google Shape;779;p56"/>
              <p:cNvSpPr/>
              <p:nvPr/>
            </p:nvSpPr>
            <p:spPr>
              <a:xfrm>
                <a:off x="762000" y="2905125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56"/>
              <p:cNvSpPr txBox="1"/>
              <p:nvPr/>
            </p:nvSpPr>
            <p:spPr>
              <a:xfrm>
                <a:off x="904875" y="295275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4. Implementation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The actual writing of the source code.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781" name="Google Shape;781;p56"/>
            <p:cNvGrpSpPr/>
            <p:nvPr/>
          </p:nvGrpSpPr>
          <p:grpSpPr>
            <a:xfrm>
              <a:off x="3381375" y="2905125"/>
              <a:ext cx="2381400" cy="762000"/>
              <a:chOff x="3381375" y="2905125"/>
              <a:chExt cx="2381400" cy="762000"/>
            </a:xfrm>
          </p:grpSpPr>
          <p:sp>
            <p:nvSpPr>
              <p:cNvPr id="782" name="Google Shape;782;p56"/>
              <p:cNvSpPr/>
              <p:nvPr/>
            </p:nvSpPr>
            <p:spPr>
              <a:xfrm>
                <a:off x="3381375" y="2905125"/>
                <a:ext cx="23814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56"/>
              <p:cNvSpPr txBox="1"/>
              <p:nvPr/>
            </p:nvSpPr>
            <p:spPr>
              <a:xfrm>
                <a:off x="3524250" y="2952750"/>
                <a:ext cx="2095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5. Testing</a:t>
                </a:r>
                <a:endParaRPr b="1" sz="13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CCCCCC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Verify software for bugs and requirements.</a:t>
                </a:r>
                <a:endParaRPr sz="1000">
                  <a:solidFill>
                    <a:srgbClr val="CCCCCC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